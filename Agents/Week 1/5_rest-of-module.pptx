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handoutMasterIdLst>
    <p:handoutMasterId r:id="rId11"/>
  </p:handoutMasterIdLst>
  <p:sldIdLst>
    <p:sldId id="679" r:id="rId2"/>
    <p:sldId id="708" r:id="rId3"/>
    <p:sldId id="709" r:id="rId4"/>
    <p:sldId id="711" r:id="rId5"/>
    <p:sldId id="712" r:id="rId6"/>
    <p:sldId id="713" r:id="rId7"/>
    <p:sldId id="714" r:id="rId8"/>
    <p:sldId id="715" r:id="rId9"/>
  </p:sldIdLst>
  <p:sldSz cx="9144000" cy="6858000" type="overhead"/>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38" autoAdjust="0"/>
    <p:restoredTop sz="83462" autoAdjust="0"/>
  </p:normalViewPr>
  <p:slideViewPr>
    <p:cSldViewPr snapToGrid="0">
      <p:cViewPr varScale="1">
        <p:scale>
          <a:sx n="92" d="100"/>
          <a:sy n="92" d="100"/>
        </p:scale>
        <p:origin x="2328" y="184"/>
      </p:cViewPr>
      <p:guideLst/>
    </p:cSldViewPr>
  </p:slideViewPr>
  <p:outlineViewPr>
    <p:cViewPr>
      <p:scale>
        <a:sx n="33" d="100"/>
        <a:sy n="33" d="100"/>
      </p:scale>
      <p:origin x="0" y="-77016"/>
    </p:cViewPr>
  </p:outlineViewPr>
  <p:notesTextViewPr>
    <p:cViewPr>
      <p:scale>
        <a:sx n="1" d="1"/>
        <a:sy n="1" d="1"/>
      </p:scale>
      <p:origin x="0" y="0"/>
    </p:cViewPr>
  </p:notesTextViewPr>
  <p:notesViewPr>
    <p:cSldViewPr snapToGrid="0">
      <p:cViewPr varScale="1">
        <p:scale>
          <a:sx n="93" d="100"/>
          <a:sy n="93" d="100"/>
        </p:scale>
        <p:origin x="3726"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60AEDCE8-C4FA-4A83-84A1-76656258D41A}" type="datetimeFigureOut">
              <a:rPr lang="en-GB" smtClean="0"/>
              <a:t>30/08/2020</a:t>
            </a:fld>
            <a:endParaRPr lang="en-GB"/>
          </a:p>
        </p:txBody>
      </p:sp>
      <p:sp>
        <p:nvSpPr>
          <p:cNvPr id="4" name="Footer Placeholder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47D33081-74F5-4141-90AA-170E6E0995EC}" type="slidenum">
              <a:rPr lang="en-GB" smtClean="0"/>
              <a:t>‹#›</a:t>
            </a:fld>
            <a:endParaRPr lang="en-GB"/>
          </a:p>
        </p:txBody>
      </p:sp>
    </p:spTree>
    <p:extLst>
      <p:ext uri="{BB962C8B-B14F-4D97-AF65-F5344CB8AC3E}">
        <p14:creationId xmlns:p14="http://schemas.microsoft.com/office/powerpoint/2010/main" val="37143321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DCAA8B6C-DA4C-41B0-A80B-D30E8AA980A5}" type="datetimeFigureOut">
              <a:rPr lang="en-GB" smtClean="0"/>
              <a:t>30/08/2020</a:t>
            </a:fld>
            <a:endParaRPr lang="en-GB"/>
          </a:p>
        </p:txBody>
      </p:sp>
      <p:sp>
        <p:nvSpPr>
          <p:cNvPr id="4" name="Slide Image Placeholder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3CEAD2B-4528-43F8-BD40-14785C9B35E2}" type="slidenum">
              <a:rPr lang="en-GB" smtClean="0"/>
              <a:t>‹#›</a:t>
            </a:fld>
            <a:endParaRPr lang="en-GB"/>
          </a:p>
        </p:txBody>
      </p:sp>
    </p:spTree>
    <p:extLst>
      <p:ext uri="{BB962C8B-B14F-4D97-AF65-F5344CB8AC3E}">
        <p14:creationId xmlns:p14="http://schemas.microsoft.com/office/powerpoint/2010/main" val="3394396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a:ea typeface="ＭＳ Ｐゴシック" panose="020B0600070205080204" pitchFamily="34" charset="-128"/>
            </a:endParaRPr>
          </a:p>
        </p:txBody>
      </p:sp>
      <p:sp>
        <p:nvSpPr>
          <p:cNvPr id="4" name="Slide Number Placeholder 3"/>
          <p:cNvSpPr>
            <a:spLocks noGrp="1"/>
          </p:cNvSpPr>
          <p:nvPr>
            <p:ph type="sldNum" sz="quarter" idx="10"/>
          </p:nvPr>
        </p:nvSpPr>
        <p:spPr/>
        <p:txBody>
          <a:bodyPr/>
          <a:lstStyle/>
          <a:p>
            <a:fld id="{F3CEAD2B-4528-43F8-BD40-14785C9B35E2}" type="slidenum">
              <a:rPr lang="en-GB" smtClean="0"/>
              <a:t>1</a:t>
            </a:fld>
            <a:endParaRPr lang="en-GB"/>
          </a:p>
        </p:txBody>
      </p:sp>
    </p:spTree>
    <p:extLst>
      <p:ext uri="{BB962C8B-B14F-4D97-AF65-F5344CB8AC3E}">
        <p14:creationId xmlns:p14="http://schemas.microsoft.com/office/powerpoint/2010/main" val="1981635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937437-D325-410B-BE35-969C276C4A18}" type="datetimeFigureOut">
              <a:rPr lang="en-GB" smtClean="0"/>
              <a:t>30/08/2020</a:t>
            </a:fld>
            <a:endParaRPr lang="en-GB"/>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D638494-C9ED-4E98-B7C3-98D77A501AB9}" type="slidenum">
              <a:rPr lang="en-GB" smtClean="0"/>
              <a:t>‹#›</a:t>
            </a:fld>
            <a:endParaRPr lang="en-GB"/>
          </a:p>
        </p:txBody>
      </p:sp>
    </p:spTree>
    <p:extLst>
      <p:ext uri="{BB962C8B-B14F-4D97-AF65-F5344CB8AC3E}">
        <p14:creationId xmlns:p14="http://schemas.microsoft.com/office/powerpoint/2010/main" val="2755563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990D338-CA5B-6F49-8AB3-02A1CFC1AA44}"/>
              </a:ext>
            </a:extLst>
          </p:cNvPr>
          <p:cNvSpPr/>
          <p:nvPr userDrawn="1"/>
        </p:nvSpPr>
        <p:spPr>
          <a:xfrm>
            <a:off x="0" y="0"/>
            <a:ext cx="9144000" cy="83502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2" name="Title 1"/>
          <p:cNvSpPr>
            <a:spLocks noGrp="1"/>
          </p:cNvSpPr>
          <p:nvPr>
            <p:ph type="title"/>
          </p:nvPr>
        </p:nvSpPr>
        <p:spPr>
          <a:xfrm>
            <a:off x="355600" y="18256"/>
            <a:ext cx="8159750" cy="816770"/>
          </a:xfrm>
        </p:spPr>
        <p:txBody>
          <a:bodyPr>
            <a:normAutofit/>
          </a:bodyPr>
          <a:lstStyle>
            <a:lvl1pPr>
              <a:defRPr lang="en-US" sz="3200" b="1" kern="1200" dirty="0">
                <a:solidFill>
                  <a:schemeClr val="tx1"/>
                </a:solidFill>
                <a:latin typeface="Calibri Light" panose="020F0302020204030204" pitchFamily="34" charset="0"/>
                <a:ea typeface="ヒラギノ明朝 ProN W3" panose="02020300000000000000" pitchFamily="18" charset="-128"/>
                <a:cs typeface="ヒラギノ角ゴ ProN W3" panose="020B0300000000000000" pitchFamily="34" charset="-128"/>
                <a:sym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37437-D325-410B-BE35-969C276C4A18}" type="datetimeFigureOut">
              <a:rPr lang="en-GB" smtClean="0"/>
              <a:t>30/08/2020</a:t>
            </a:fld>
            <a:endParaRPr lang="en-GB"/>
          </a:p>
        </p:txBody>
      </p:sp>
      <p:sp>
        <p:nvSpPr>
          <p:cNvPr id="5" name="Footer Placeholder 4"/>
          <p:cNvSpPr>
            <a:spLocks noGrp="1"/>
          </p:cNvSpPr>
          <p:nvPr>
            <p:ph type="ftr" sz="quarter" idx="11"/>
          </p:nvPr>
        </p:nvSpPr>
        <p:spPr/>
        <p:txBody>
          <a:bodyPr/>
          <a:lstStyle/>
          <a:p>
            <a:fld id="{69FE07E6-BF23-45A5-B8A1-CF11E0F9D1EB}" type="slidenum">
              <a:rPr lang="en-GB" smtClean="0"/>
              <a:pPr/>
              <a:t>‹#›</a:t>
            </a:fld>
            <a:r>
              <a:rPr lang="en-GB" dirty="0"/>
              <a:t>/57</a:t>
            </a:r>
          </a:p>
        </p:txBody>
      </p:sp>
      <p:sp>
        <p:nvSpPr>
          <p:cNvPr id="6" name="Slide Number Placeholder 5"/>
          <p:cNvSpPr>
            <a:spLocks noGrp="1"/>
          </p:cNvSpPr>
          <p:nvPr>
            <p:ph type="sldNum" sz="quarter" idx="12"/>
          </p:nvPr>
        </p:nvSpPr>
        <p:spPr/>
        <p:txBody>
          <a:bodyPr/>
          <a:lstStyle/>
          <a:p>
            <a:fld id="{7D638494-C9ED-4E98-B7C3-98D77A501AB9}" type="slidenum">
              <a:rPr lang="en-GB" smtClean="0"/>
              <a:t>‹#›</a:t>
            </a:fld>
            <a:endParaRPr lang="en-GB"/>
          </a:p>
        </p:txBody>
      </p:sp>
    </p:spTree>
    <p:extLst>
      <p:ext uri="{BB962C8B-B14F-4D97-AF65-F5344CB8AC3E}">
        <p14:creationId xmlns:p14="http://schemas.microsoft.com/office/powerpoint/2010/main" val="3025435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37437-D325-410B-BE35-969C276C4A18}" type="datetimeFigureOut">
              <a:rPr lang="en-GB" smtClean="0"/>
              <a:t>30/08/2020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D638494-C9ED-4E98-B7C3-98D77A501AB9}" type="slidenum">
              <a:rPr lang="en-GB" smtClean="0"/>
              <a:t>‹#›</a:t>
            </a:fld>
            <a:endParaRPr lang="en-GB"/>
          </a:p>
        </p:txBody>
      </p:sp>
    </p:spTree>
    <p:extLst>
      <p:ext uri="{BB962C8B-B14F-4D97-AF65-F5344CB8AC3E}">
        <p14:creationId xmlns:p14="http://schemas.microsoft.com/office/powerpoint/2010/main" val="3435626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937437-D325-410B-BE35-969C276C4A18}" type="datetimeFigureOut">
              <a:rPr lang="en-GB" smtClean="0"/>
              <a:t>30/08/2020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D638494-C9ED-4E98-B7C3-98D77A501AB9}" type="slidenum">
              <a:rPr lang="en-GB" smtClean="0"/>
              <a:t>‹#›</a:t>
            </a:fld>
            <a:endParaRPr lang="en-GB"/>
          </a:p>
        </p:txBody>
      </p:sp>
    </p:spTree>
    <p:extLst>
      <p:ext uri="{BB962C8B-B14F-4D97-AF65-F5344CB8AC3E}">
        <p14:creationId xmlns:p14="http://schemas.microsoft.com/office/powerpoint/2010/main" val="1415618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937437-D325-410B-BE35-969C276C4A18}" type="datetimeFigureOut">
              <a:rPr lang="en-GB" smtClean="0"/>
              <a:t>30/08/2020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D638494-C9ED-4E98-B7C3-98D77A501AB9}" type="slidenum">
              <a:rPr lang="en-GB" smtClean="0"/>
              <a:t>‹#›</a:t>
            </a:fld>
            <a:endParaRPr lang="en-GB"/>
          </a:p>
        </p:txBody>
      </p:sp>
    </p:spTree>
    <p:extLst>
      <p:ext uri="{BB962C8B-B14F-4D97-AF65-F5344CB8AC3E}">
        <p14:creationId xmlns:p14="http://schemas.microsoft.com/office/powerpoint/2010/main" val="3365319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937437-D325-410B-BE35-969C276C4A18}" type="datetimeFigureOut">
              <a:rPr lang="en-GB" smtClean="0"/>
              <a:t>30/08/2020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D638494-C9ED-4E98-B7C3-98D77A501AB9}" type="slidenum">
              <a:rPr lang="en-GB" smtClean="0"/>
              <a:t>‹#›</a:t>
            </a:fld>
            <a:endParaRPr lang="en-GB"/>
          </a:p>
        </p:txBody>
      </p:sp>
    </p:spTree>
    <p:extLst>
      <p:ext uri="{BB962C8B-B14F-4D97-AF65-F5344CB8AC3E}">
        <p14:creationId xmlns:p14="http://schemas.microsoft.com/office/powerpoint/2010/main" val="2361002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937437-D325-410B-BE35-969C276C4A18}" type="datetimeFigureOut">
              <a:rPr lang="en-GB" smtClean="0"/>
              <a:t>30/08/2020</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D638494-C9ED-4E98-B7C3-98D77A501AB9}" type="slidenum">
              <a:rPr lang="en-GB" smtClean="0"/>
              <a:t>‹#›</a:t>
            </a:fld>
            <a:endParaRPr lang="en-GB"/>
          </a:p>
        </p:txBody>
      </p:sp>
    </p:spTree>
    <p:extLst>
      <p:ext uri="{BB962C8B-B14F-4D97-AF65-F5344CB8AC3E}">
        <p14:creationId xmlns:p14="http://schemas.microsoft.com/office/powerpoint/2010/main" val="3716449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937437-D325-410B-BE35-969C276C4A18}" type="datetimeFigureOut">
              <a:rPr lang="en-GB" smtClean="0"/>
              <a:t>30/08/2020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D638494-C9ED-4E98-B7C3-98D77A501AB9}" type="slidenum">
              <a:rPr lang="en-GB" smtClean="0"/>
              <a:t>‹#›</a:t>
            </a:fld>
            <a:endParaRPr lang="en-GB"/>
          </a:p>
        </p:txBody>
      </p:sp>
    </p:spTree>
    <p:extLst>
      <p:ext uri="{BB962C8B-B14F-4D97-AF65-F5344CB8AC3E}">
        <p14:creationId xmlns:p14="http://schemas.microsoft.com/office/powerpoint/2010/main" val="4013302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937437-D325-410B-BE35-969C276C4A18}" type="datetimeFigureOut">
              <a:rPr lang="en-GB" smtClean="0"/>
              <a:t>30/08/2020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D638494-C9ED-4E98-B7C3-98D77A501AB9}" type="slidenum">
              <a:rPr lang="en-GB" smtClean="0"/>
              <a:t>‹#›</a:t>
            </a:fld>
            <a:endParaRPr lang="en-GB"/>
          </a:p>
        </p:txBody>
      </p:sp>
    </p:spTree>
    <p:extLst>
      <p:ext uri="{BB962C8B-B14F-4D97-AF65-F5344CB8AC3E}">
        <p14:creationId xmlns:p14="http://schemas.microsoft.com/office/powerpoint/2010/main" val="3631247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37437-D325-410B-BE35-969C276C4A18}" type="datetimeFigureOut">
              <a:rPr lang="en-GB" smtClean="0"/>
              <a:t>30/08/2020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D638494-C9ED-4E98-B7C3-98D77A501AB9}" type="slidenum">
              <a:rPr lang="en-GB" smtClean="0"/>
              <a:t>‹#›</a:t>
            </a:fld>
            <a:endParaRPr lang="en-GB"/>
          </a:p>
        </p:txBody>
      </p:sp>
    </p:spTree>
    <p:extLst>
      <p:ext uri="{BB962C8B-B14F-4D97-AF65-F5344CB8AC3E}">
        <p14:creationId xmlns:p14="http://schemas.microsoft.com/office/powerpoint/2010/main" val="3917175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37437-D325-410B-BE35-969C276C4A18}" type="datetimeFigureOut">
              <a:rPr lang="en-GB" smtClean="0"/>
              <a:t>30/08/2020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D638494-C9ED-4E98-B7C3-98D77A501AB9}" type="slidenum">
              <a:rPr lang="en-GB" smtClean="0"/>
              <a:t>‹#›</a:t>
            </a:fld>
            <a:endParaRPr lang="en-GB"/>
          </a:p>
        </p:txBody>
      </p:sp>
    </p:spTree>
    <p:extLst>
      <p:ext uri="{BB962C8B-B14F-4D97-AF65-F5344CB8AC3E}">
        <p14:creationId xmlns:p14="http://schemas.microsoft.com/office/powerpoint/2010/main" val="4052332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937437-D325-410B-BE35-969C276C4A18}" type="datetimeFigureOut">
              <a:rPr lang="en-GB" smtClean="0"/>
              <a:t>30/08/2020</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638494-C9ED-4E98-B7C3-98D77A501AB9}" type="slidenum">
              <a:rPr lang="en-GB" smtClean="0"/>
              <a:t>‹#›</a:t>
            </a:fld>
            <a:endParaRPr lang="en-GB"/>
          </a:p>
        </p:txBody>
      </p:sp>
    </p:spTree>
    <p:extLst>
      <p:ext uri="{BB962C8B-B14F-4D97-AF65-F5344CB8AC3E}">
        <p14:creationId xmlns:p14="http://schemas.microsoft.com/office/powerpoint/2010/main" val="37097454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834571"/>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420915" y="1"/>
            <a:ext cx="8338456" cy="899886"/>
          </a:xfrm>
        </p:spPr>
        <p:txBody>
          <a:bodyPr>
            <a:normAutofit/>
          </a:bodyPr>
          <a:lstStyle/>
          <a:p>
            <a:r>
              <a:rPr lang="en-GB" sz="3200" b="1" noProof="0" dirty="0"/>
              <a:t>Agents and multi-agent systems</a:t>
            </a:r>
          </a:p>
        </p:txBody>
      </p:sp>
      <p:sp>
        <p:nvSpPr>
          <p:cNvPr id="3" name="Content Placeholder 2"/>
          <p:cNvSpPr>
            <a:spLocks noGrp="1"/>
          </p:cNvSpPr>
          <p:nvPr>
            <p:ph idx="1"/>
          </p:nvPr>
        </p:nvSpPr>
        <p:spPr>
          <a:xfrm>
            <a:off x="420915" y="1204686"/>
            <a:ext cx="8338456" cy="5363027"/>
          </a:xfrm>
        </p:spPr>
        <p:txBody>
          <a:bodyPr>
            <a:noAutofit/>
          </a:bodyPr>
          <a:lstStyle/>
          <a:p>
            <a:pPr marL="0" indent="0">
              <a:buNone/>
            </a:pPr>
            <a:r>
              <a:rPr lang="en-GB" sz="2400" noProof="0" dirty="0"/>
              <a:t>Two key problems:</a:t>
            </a:r>
          </a:p>
          <a:p>
            <a:pPr lvl="1"/>
            <a:r>
              <a:rPr lang="en-GB" noProof="0" dirty="0"/>
              <a:t>How do we build agents capable of independent, autonomous action, so that they can successfully carry out tasks we delegate to them? (Topics 2-4)</a:t>
            </a:r>
          </a:p>
          <a:p>
            <a:pPr lvl="1"/>
            <a:r>
              <a:rPr lang="en-GB" noProof="0" dirty="0"/>
              <a:t>How do we build agents that are capable of interacting (cooperating, coordinating, negotiating) with other agents in order to successfully carry out those delegated tasks, especially when the other agents cannot be assumed to share the same interests/goals? </a:t>
            </a:r>
            <a:r>
              <a:rPr lang="en-GB" dirty="0"/>
              <a:t>(Topics 5-10)</a:t>
            </a:r>
            <a:endParaRPr lang="en-GB" noProof="0" dirty="0"/>
          </a:p>
          <a:p>
            <a:pPr marL="0" indent="0">
              <a:buNone/>
            </a:pPr>
            <a:endParaRPr lang="en-GB" sz="2400" noProof="0" dirty="0"/>
          </a:p>
          <a:p>
            <a:pPr marL="0" indent="0">
              <a:buNone/>
            </a:pPr>
            <a:endParaRPr lang="en-GB" sz="2400" noProof="0" dirty="0"/>
          </a:p>
          <a:p>
            <a:pPr marL="0" indent="0">
              <a:buNone/>
            </a:pPr>
            <a:endParaRPr lang="en-GB" sz="2400" noProof="0" dirty="0"/>
          </a:p>
          <a:p>
            <a:pPr marL="0" indent="0">
              <a:buNone/>
            </a:pPr>
            <a:endParaRPr lang="en-GB" sz="2400" noProof="0" dirty="0"/>
          </a:p>
        </p:txBody>
      </p:sp>
    </p:spTree>
    <p:extLst>
      <p:ext uri="{BB962C8B-B14F-4D97-AF65-F5344CB8AC3E}">
        <p14:creationId xmlns:p14="http://schemas.microsoft.com/office/powerpoint/2010/main" val="676218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C6E78-7B58-754A-9CEE-975FF652F02A}"/>
              </a:ext>
            </a:extLst>
          </p:cNvPr>
          <p:cNvSpPr>
            <a:spLocks noGrp="1"/>
          </p:cNvSpPr>
          <p:nvPr>
            <p:ph type="title"/>
          </p:nvPr>
        </p:nvSpPr>
        <p:spPr/>
        <p:txBody>
          <a:bodyPr/>
          <a:lstStyle/>
          <a:p>
            <a:r>
              <a:rPr lang="en-GB" noProof="0" dirty="0"/>
              <a:t>Embedded agents (topic 2)</a:t>
            </a:r>
          </a:p>
        </p:txBody>
      </p:sp>
      <p:sp>
        <p:nvSpPr>
          <p:cNvPr id="3" name="Content Placeholder 2">
            <a:extLst>
              <a:ext uri="{FF2B5EF4-FFF2-40B4-BE49-F238E27FC236}">
                <a16:creationId xmlns:a16="http://schemas.microsoft.com/office/drawing/2014/main" id="{BF9FF7D2-BF97-E741-8E02-DDBCA723240E}"/>
              </a:ext>
            </a:extLst>
          </p:cNvPr>
          <p:cNvSpPr>
            <a:spLocks noGrp="1"/>
          </p:cNvSpPr>
          <p:nvPr>
            <p:ph idx="1"/>
          </p:nvPr>
        </p:nvSpPr>
        <p:spPr/>
        <p:txBody>
          <a:bodyPr>
            <a:normAutofit lnSpcReduction="10000"/>
          </a:bodyPr>
          <a:lstStyle/>
          <a:p>
            <a:pPr marL="0" indent="0">
              <a:buNone/>
            </a:pPr>
            <a:r>
              <a:rPr lang="en-GB" noProof="0" dirty="0"/>
              <a:t>An agent is </a:t>
            </a:r>
            <a:r>
              <a:rPr lang="en-GB" b="1" noProof="0" dirty="0"/>
              <a:t>embedded </a:t>
            </a:r>
            <a:r>
              <a:rPr lang="en-GB" noProof="0" dirty="0"/>
              <a:t>in an environment, whether physical or virtual, and acts in that environment</a:t>
            </a:r>
          </a:p>
          <a:p>
            <a:r>
              <a:rPr lang="en-GB" noProof="0" dirty="0"/>
              <a:t>What are the characteristics of these </a:t>
            </a:r>
            <a:r>
              <a:rPr lang="en-GB" b="1" noProof="0" dirty="0"/>
              <a:t>environments</a:t>
            </a:r>
            <a:r>
              <a:rPr lang="en-GB" noProof="0" dirty="0"/>
              <a:t>, and how do these affect what an agent can achieve?</a:t>
            </a:r>
          </a:p>
          <a:p>
            <a:pPr lvl="1"/>
            <a:r>
              <a:rPr lang="en-GB" noProof="0" dirty="0"/>
              <a:t>Deterministic vs non-deterministic, dynamic vs static, discrete vs continuous…</a:t>
            </a:r>
          </a:p>
          <a:p>
            <a:r>
              <a:rPr lang="en-GB" noProof="0" dirty="0"/>
              <a:t>How do we formally describe the </a:t>
            </a:r>
            <a:r>
              <a:rPr lang="en-GB" b="1" noProof="0" dirty="0"/>
              <a:t>behaviour</a:t>
            </a:r>
            <a:r>
              <a:rPr lang="en-GB" noProof="0" dirty="0"/>
              <a:t> of the agent in its interaction with its environment?</a:t>
            </a:r>
          </a:p>
          <a:p>
            <a:r>
              <a:rPr lang="en-GB" noProof="0" dirty="0"/>
              <a:t>How does an agent determine what </a:t>
            </a:r>
            <a:r>
              <a:rPr lang="en-GB" b="1" noProof="0" dirty="0"/>
              <a:t>success </a:t>
            </a:r>
            <a:r>
              <a:rPr lang="en-GB" noProof="0" dirty="0"/>
              <a:t>looks like so it can autonomously decide how to behave?</a:t>
            </a:r>
          </a:p>
        </p:txBody>
      </p:sp>
    </p:spTree>
    <p:extLst>
      <p:ext uri="{BB962C8B-B14F-4D97-AF65-F5344CB8AC3E}">
        <p14:creationId xmlns:p14="http://schemas.microsoft.com/office/powerpoint/2010/main" val="2561905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E03C2-7B77-8441-AA7A-DE3356B51073}"/>
              </a:ext>
            </a:extLst>
          </p:cNvPr>
          <p:cNvSpPr>
            <a:spLocks noGrp="1"/>
          </p:cNvSpPr>
          <p:nvPr>
            <p:ph type="title"/>
          </p:nvPr>
        </p:nvSpPr>
        <p:spPr/>
        <p:txBody>
          <a:bodyPr/>
          <a:lstStyle/>
          <a:p>
            <a:r>
              <a:rPr lang="en-GB" noProof="0" dirty="0"/>
              <a:t>Agent architectures (topics 3 and 4)</a:t>
            </a:r>
          </a:p>
        </p:txBody>
      </p:sp>
      <p:sp>
        <p:nvSpPr>
          <p:cNvPr id="3" name="Content Placeholder 2">
            <a:extLst>
              <a:ext uri="{FF2B5EF4-FFF2-40B4-BE49-F238E27FC236}">
                <a16:creationId xmlns:a16="http://schemas.microsoft.com/office/drawing/2014/main" id="{2D0BFB45-70DF-E845-9E6C-17659300EDA5}"/>
              </a:ext>
            </a:extLst>
          </p:cNvPr>
          <p:cNvSpPr>
            <a:spLocks noGrp="1"/>
          </p:cNvSpPr>
          <p:nvPr>
            <p:ph idx="1"/>
          </p:nvPr>
        </p:nvSpPr>
        <p:spPr/>
        <p:txBody>
          <a:bodyPr/>
          <a:lstStyle/>
          <a:p>
            <a:pPr marL="0" indent="0">
              <a:buNone/>
            </a:pPr>
            <a:r>
              <a:rPr lang="en-GB" noProof="0" dirty="0"/>
              <a:t>Going further into what is required in the design of an agent to make it useful and intelligent.</a:t>
            </a:r>
          </a:p>
          <a:p>
            <a:pPr marL="0" indent="0">
              <a:buNone/>
            </a:pPr>
            <a:endParaRPr lang="en-GB" noProof="0" dirty="0"/>
          </a:p>
          <a:p>
            <a:pPr marL="0" indent="0">
              <a:buNone/>
            </a:pPr>
            <a:r>
              <a:rPr lang="en-GB" dirty="0"/>
              <a:t>We will look at the following different types of agent architectures:</a:t>
            </a:r>
          </a:p>
          <a:p>
            <a:r>
              <a:rPr lang="en-GB" dirty="0"/>
              <a:t>Deductive (topic 3)</a:t>
            </a:r>
          </a:p>
          <a:p>
            <a:r>
              <a:rPr lang="en-GB" noProof="0" dirty="0"/>
              <a:t>Reactive (topic 3)</a:t>
            </a:r>
            <a:endParaRPr lang="en-GB" dirty="0"/>
          </a:p>
          <a:p>
            <a:r>
              <a:rPr lang="en-GB" noProof="0" dirty="0"/>
              <a:t>Hybrid (</a:t>
            </a:r>
            <a:r>
              <a:rPr lang="en-GB" dirty="0"/>
              <a:t>topic 3)</a:t>
            </a:r>
          </a:p>
          <a:p>
            <a:r>
              <a:rPr lang="en-GB" noProof="0" dirty="0"/>
              <a:t>Belief</a:t>
            </a:r>
            <a:r>
              <a:rPr lang="en-GB" dirty="0"/>
              <a:t>-Desire-Intention (topic 4)</a:t>
            </a:r>
            <a:endParaRPr lang="en-GB" noProof="0" dirty="0"/>
          </a:p>
        </p:txBody>
      </p:sp>
    </p:spTree>
    <p:extLst>
      <p:ext uri="{BB962C8B-B14F-4D97-AF65-F5344CB8AC3E}">
        <p14:creationId xmlns:p14="http://schemas.microsoft.com/office/powerpoint/2010/main" val="276953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D3845-6FEF-3143-A321-C140C8BDDB6B}"/>
              </a:ext>
            </a:extLst>
          </p:cNvPr>
          <p:cNvSpPr>
            <a:spLocks noGrp="1"/>
          </p:cNvSpPr>
          <p:nvPr>
            <p:ph type="title"/>
          </p:nvPr>
        </p:nvSpPr>
        <p:spPr>
          <a:xfrm>
            <a:off x="355599" y="18256"/>
            <a:ext cx="8511309" cy="816770"/>
          </a:xfrm>
        </p:spPr>
        <p:txBody>
          <a:bodyPr>
            <a:normAutofit fontScale="90000"/>
          </a:bodyPr>
          <a:lstStyle/>
          <a:p>
            <a:r>
              <a:rPr lang="en-GB" noProof="0" dirty="0"/>
              <a:t>Communication, coordination and cooperation (topic 5)	</a:t>
            </a:r>
          </a:p>
        </p:txBody>
      </p:sp>
      <p:sp>
        <p:nvSpPr>
          <p:cNvPr id="3" name="Content Placeholder 2">
            <a:extLst>
              <a:ext uri="{FF2B5EF4-FFF2-40B4-BE49-F238E27FC236}">
                <a16:creationId xmlns:a16="http://schemas.microsoft.com/office/drawing/2014/main" id="{A1F84720-7B8D-4C42-BF4F-1E83882FF96B}"/>
              </a:ext>
            </a:extLst>
          </p:cNvPr>
          <p:cNvSpPr>
            <a:spLocks noGrp="1"/>
          </p:cNvSpPr>
          <p:nvPr>
            <p:ph idx="1"/>
          </p:nvPr>
        </p:nvSpPr>
        <p:spPr/>
        <p:txBody>
          <a:bodyPr>
            <a:normAutofit fontScale="92500" lnSpcReduction="10000"/>
          </a:bodyPr>
          <a:lstStyle/>
          <a:p>
            <a:pPr marL="0" indent="0">
              <a:buNone/>
            </a:pPr>
            <a:r>
              <a:rPr lang="en-GB" noProof="0" dirty="0"/>
              <a:t>A multi-agent system allows for potential benefit through agents pooling their abilities and resources, but this only works if they </a:t>
            </a:r>
            <a:r>
              <a:rPr lang="en-GB" b="1" noProof="0" dirty="0"/>
              <a:t>coordinate</a:t>
            </a:r>
          </a:p>
          <a:p>
            <a:r>
              <a:rPr lang="en-GB" noProof="0" dirty="0"/>
              <a:t>What are the principles underlying </a:t>
            </a:r>
            <a:r>
              <a:rPr lang="en-GB" b="1" noProof="0" dirty="0"/>
              <a:t>agent communication languages</a:t>
            </a:r>
            <a:r>
              <a:rPr lang="en-GB" noProof="0" dirty="0"/>
              <a:t>?</a:t>
            </a:r>
          </a:p>
          <a:p>
            <a:r>
              <a:rPr lang="en-GB" noProof="0" dirty="0"/>
              <a:t>How can an agent with a task it can’t achieve on its own </a:t>
            </a:r>
            <a:r>
              <a:rPr lang="en-GB" b="1" noProof="0" dirty="0"/>
              <a:t>distribute</a:t>
            </a:r>
            <a:r>
              <a:rPr lang="en-GB" noProof="0" dirty="0"/>
              <a:t> sub-tasks to agents within the environment?</a:t>
            </a:r>
          </a:p>
          <a:p>
            <a:r>
              <a:rPr lang="en-GB" noProof="0" dirty="0"/>
              <a:t>If agents each have </a:t>
            </a:r>
            <a:r>
              <a:rPr lang="en-GB" b="1" noProof="0" dirty="0"/>
              <a:t>partial information </a:t>
            </a:r>
            <a:r>
              <a:rPr lang="en-GB" noProof="0" dirty="0"/>
              <a:t>about their parts of the environment, how could they coordinate to achieve tasks requiring global information?</a:t>
            </a:r>
          </a:p>
        </p:txBody>
      </p:sp>
    </p:spTree>
    <p:extLst>
      <p:ext uri="{BB962C8B-B14F-4D97-AF65-F5344CB8AC3E}">
        <p14:creationId xmlns:p14="http://schemas.microsoft.com/office/powerpoint/2010/main" val="502752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AB143-E146-834D-B9F3-9ABEF1E8CD00}"/>
              </a:ext>
            </a:extLst>
          </p:cNvPr>
          <p:cNvSpPr>
            <a:spLocks noGrp="1"/>
          </p:cNvSpPr>
          <p:nvPr>
            <p:ph type="title"/>
          </p:nvPr>
        </p:nvSpPr>
        <p:spPr/>
        <p:txBody>
          <a:bodyPr/>
          <a:lstStyle/>
          <a:p>
            <a:r>
              <a:rPr lang="en-GB" noProof="0" dirty="0"/>
              <a:t>Negotiation (topic 6)</a:t>
            </a:r>
          </a:p>
        </p:txBody>
      </p:sp>
      <p:sp>
        <p:nvSpPr>
          <p:cNvPr id="3" name="Content Placeholder 2">
            <a:extLst>
              <a:ext uri="{FF2B5EF4-FFF2-40B4-BE49-F238E27FC236}">
                <a16:creationId xmlns:a16="http://schemas.microsoft.com/office/drawing/2014/main" id="{7217C09D-FB3F-7544-88C4-DFC6B7B5E27B}"/>
              </a:ext>
            </a:extLst>
          </p:cNvPr>
          <p:cNvSpPr>
            <a:spLocks noGrp="1"/>
          </p:cNvSpPr>
          <p:nvPr>
            <p:ph idx="1"/>
          </p:nvPr>
        </p:nvSpPr>
        <p:spPr/>
        <p:txBody>
          <a:bodyPr>
            <a:normAutofit lnSpcReduction="10000"/>
          </a:bodyPr>
          <a:lstStyle/>
          <a:p>
            <a:pPr marL="0" indent="0">
              <a:buNone/>
            </a:pPr>
            <a:r>
              <a:rPr lang="en-GB" noProof="0" dirty="0"/>
              <a:t>Agents do not have to be cooperative, they may be competitive and have conflicting goals. We next consider how they may come to mutually acceptable agreements through </a:t>
            </a:r>
            <a:r>
              <a:rPr lang="en-GB" b="1" noProof="0" dirty="0"/>
              <a:t>negotiation</a:t>
            </a:r>
            <a:r>
              <a:rPr lang="en-GB" noProof="0" dirty="0"/>
              <a:t>.</a:t>
            </a:r>
          </a:p>
          <a:p>
            <a:r>
              <a:rPr lang="en-GB" noProof="0" dirty="0"/>
              <a:t>We need </a:t>
            </a:r>
            <a:r>
              <a:rPr lang="en-GB" b="1" noProof="0" dirty="0"/>
              <a:t>agreement mechanisms </a:t>
            </a:r>
            <a:r>
              <a:rPr lang="en-GB" noProof="0" dirty="0"/>
              <a:t>through which agents coordinate: what do we want from such a mechanism?</a:t>
            </a:r>
          </a:p>
          <a:p>
            <a:r>
              <a:rPr lang="en-GB" dirty="0"/>
              <a:t>If all agents behave </a:t>
            </a:r>
            <a:r>
              <a:rPr lang="en-GB" b="1" dirty="0"/>
              <a:t>individually rationally </a:t>
            </a:r>
            <a:r>
              <a:rPr lang="en-GB" dirty="0"/>
              <a:t>in negotiating, do we necessarily get the best outcome?</a:t>
            </a:r>
            <a:endParaRPr lang="en-GB" noProof="0" dirty="0"/>
          </a:p>
          <a:p>
            <a:r>
              <a:rPr lang="en-GB" noProof="0" dirty="0"/>
              <a:t>What </a:t>
            </a:r>
            <a:r>
              <a:rPr lang="en-GB" b="1" noProof="0" dirty="0"/>
              <a:t>strategies </a:t>
            </a:r>
            <a:r>
              <a:rPr lang="en-GB" noProof="0" dirty="0"/>
              <a:t>can agents use to negotiate?</a:t>
            </a:r>
          </a:p>
        </p:txBody>
      </p:sp>
    </p:spTree>
    <p:extLst>
      <p:ext uri="{BB962C8B-B14F-4D97-AF65-F5344CB8AC3E}">
        <p14:creationId xmlns:p14="http://schemas.microsoft.com/office/powerpoint/2010/main" val="3299992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6D4D2-C164-0F44-B3F3-B1A4234B9E25}"/>
              </a:ext>
            </a:extLst>
          </p:cNvPr>
          <p:cNvSpPr>
            <a:spLocks noGrp="1"/>
          </p:cNvSpPr>
          <p:nvPr>
            <p:ph type="title"/>
          </p:nvPr>
        </p:nvSpPr>
        <p:spPr/>
        <p:txBody>
          <a:bodyPr/>
          <a:lstStyle/>
          <a:p>
            <a:r>
              <a:rPr lang="en-GB" noProof="0" dirty="0"/>
              <a:t>Making group decisions (topic 7)</a:t>
            </a:r>
          </a:p>
        </p:txBody>
      </p:sp>
      <p:sp>
        <p:nvSpPr>
          <p:cNvPr id="3" name="Content Placeholder 2">
            <a:extLst>
              <a:ext uri="{FF2B5EF4-FFF2-40B4-BE49-F238E27FC236}">
                <a16:creationId xmlns:a16="http://schemas.microsoft.com/office/drawing/2014/main" id="{EED43DBA-72D0-574E-AB9E-27A93D17C57B}"/>
              </a:ext>
            </a:extLst>
          </p:cNvPr>
          <p:cNvSpPr>
            <a:spLocks noGrp="1"/>
          </p:cNvSpPr>
          <p:nvPr>
            <p:ph idx="1"/>
          </p:nvPr>
        </p:nvSpPr>
        <p:spPr/>
        <p:txBody>
          <a:bodyPr/>
          <a:lstStyle/>
          <a:p>
            <a:pPr marL="0" indent="0">
              <a:buNone/>
            </a:pPr>
            <a:r>
              <a:rPr lang="en-GB" noProof="0" dirty="0"/>
              <a:t>A centralised mechanism, such as a vote, could be used to get agents to reach agreement on a </a:t>
            </a:r>
            <a:r>
              <a:rPr lang="en-GB" b="1" noProof="0" dirty="0"/>
              <a:t>group decision</a:t>
            </a:r>
            <a:r>
              <a:rPr lang="en-GB" noProof="0" dirty="0"/>
              <a:t>, but there are many ways this could work.</a:t>
            </a:r>
          </a:p>
          <a:p>
            <a:r>
              <a:rPr lang="en-GB" noProof="0" dirty="0"/>
              <a:t>In what ways can we reconcile the varying </a:t>
            </a:r>
            <a:r>
              <a:rPr lang="en-GB" b="1" noProof="0" dirty="0"/>
              <a:t>preferences </a:t>
            </a:r>
            <a:r>
              <a:rPr lang="en-GB" noProof="0" dirty="0"/>
              <a:t>of agents in a group decision?</a:t>
            </a:r>
          </a:p>
          <a:p>
            <a:r>
              <a:rPr lang="en-GB" noProof="0" dirty="0"/>
              <a:t>How can agents’ preferences or votes be </a:t>
            </a:r>
            <a:r>
              <a:rPr lang="en-GB" b="1" noProof="0" dirty="0"/>
              <a:t>combined </a:t>
            </a:r>
            <a:r>
              <a:rPr lang="en-GB" noProof="0" dirty="0"/>
              <a:t>to come to a consensus?</a:t>
            </a:r>
          </a:p>
          <a:p>
            <a:r>
              <a:rPr lang="en-GB" noProof="0" dirty="0"/>
              <a:t>What </a:t>
            </a:r>
            <a:r>
              <a:rPr lang="en-GB" b="1" noProof="0" dirty="0"/>
              <a:t>properties </a:t>
            </a:r>
            <a:r>
              <a:rPr lang="en-GB" noProof="0" dirty="0"/>
              <a:t>are desirable for a group decision mechanism and are they achievable?</a:t>
            </a:r>
          </a:p>
        </p:txBody>
      </p:sp>
    </p:spTree>
    <p:extLst>
      <p:ext uri="{BB962C8B-B14F-4D97-AF65-F5344CB8AC3E}">
        <p14:creationId xmlns:p14="http://schemas.microsoft.com/office/powerpoint/2010/main" val="1894206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4A0D3-8448-1B4E-9CA3-517B112D59EE}"/>
              </a:ext>
            </a:extLst>
          </p:cNvPr>
          <p:cNvSpPr>
            <a:spLocks noGrp="1"/>
          </p:cNvSpPr>
          <p:nvPr>
            <p:ph type="title"/>
          </p:nvPr>
        </p:nvSpPr>
        <p:spPr/>
        <p:txBody>
          <a:bodyPr/>
          <a:lstStyle/>
          <a:p>
            <a:r>
              <a:rPr lang="en-GB" noProof="0" dirty="0"/>
              <a:t>Allocation of scarce resources (topic 8)</a:t>
            </a:r>
          </a:p>
        </p:txBody>
      </p:sp>
      <p:sp>
        <p:nvSpPr>
          <p:cNvPr id="3" name="Content Placeholder 2">
            <a:extLst>
              <a:ext uri="{FF2B5EF4-FFF2-40B4-BE49-F238E27FC236}">
                <a16:creationId xmlns:a16="http://schemas.microsoft.com/office/drawing/2014/main" id="{22DBE765-5DF4-3E4F-837F-63F551E3422E}"/>
              </a:ext>
            </a:extLst>
          </p:cNvPr>
          <p:cNvSpPr>
            <a:spLocks noGrp="1"/>
          </p:cNvSpPr>
          <p:nvPr>
            <p:ph idx="1"/>
          </p:nvPr>
        </p:nvSpPr>
        <p:spPr/>
        <p:txBody>
          <a:bodyPr/>
          <a:lstStyle/>
          <a:p>
            <a:pPr marL="0" indent="0">
              <a:buNone/>
            </a:pPr>
            <a:r>
              <a:rPr lang="en-GB" noProof="0" dirty="0"/>
              <a:t>A particular kind of agreement between agents is the allocation of resources, and an </a:t>
            </a:r>
            <a:r>
              <a:rPr lang="en-GB" b="1" noProof="0" dirty="0"/>
              <a:t>auction</a:t>
            </a:r>
            <a:r>
              <a:rPr lang="en-GB" noProof="0" dirty="0"/>
              <a:t> is a general mechanism by which this can be done.</a:t>
            </a:r>
          </a:p>
          <a:p>
            <a:r>
              <a:rPr lang="en-GB" noProof="0" dirty="0"/>
              <a:t>What forms of auction are possible?</a:t>
            </a:r>
          </a:p>
          <a:p>
            <a:r>
              <a:rPr lang="en-GB" noProof="0" dirty="0"/>
              <a:t>What </a:t>
            </a:r>
            <a:r>
              <a:rPr lang="en-GB" b="1" noProof="0" dirty="0"/>
              <a:t>potential benefits </a:t>
            </a:r>
            <a:r>
              <a:rPr lang="en-GB" noProof="0" dirty="0"/>
              <a:t>do different kinds of auction have for the participants and the auctioneer?</a:t>
            </a:r>
          </a:p>
          <a:p>
            <a:r>
              <a:rPr lang="en-GB" noProof="0" dirty="0"/>
              <a:t>How can we auction </a:t>
            </a:r>
            <a:r>
              <a:rPr lang="en-GB" b="1" noProof="0" dirty="0"/>
              <a:t>combinations </a:t>
            </a:r>
            <a:r>
              <a:rPr lang="en-GB" noProof="0" dirty="0"/>
              <a:t>of multiple connected resources?</a:t>
            </a:r>
          </a:p>
        </p:txBody>
      </p:sp>
    </p:spTree>
    <p:extLst>
      <p:ext uri="{BB962C8B-B14F-4D97-AF65-F5344CB8AC3E}">
        <p14:creationId xmlns:p14="http://schemas.microsoft.com/office/powerpoint/2010/main" val="2209350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732BF-C481-3B4B-B591-6DD4C76F88A0}"/>
              </a:ext>
            </a:extLst>
          </p:cNvPr>
          <p:cNvSpPr>
            <a:spLocks noGrp="1"/>
          </p:cNvSpPr>
          <p:nvPr>
            <p:ph type="title"/>
          </p:nvPr>
        </p:nvSpPr>
        <p:spPr/>
        <p:txBody>
          <a:bodyPr>
            <a:normAutofit fontScale="90000"/>
          </a:bodyPr>
          <a:lstStyle/>
          <a:p>
            <a:r>
              <a:rPr lang="en-GB" noProof="0" dirty="0"/>
              <a:t>Reasoning with arguments and argument-based dialogues (topics 9 and 10)</a:t>
            </a:r>
          </a:p>
        </p:txBody>
      </p:sp>
      <p:sp>
        <p:nvSpPr>
          <p:cNvPr id="3" name="Content Placeholder 2">
            <a:extLst>
              <a:ext uri="{FF2B5EF4-FFF2-40B4-BE49-F238E27FC236}">
                <a16:creationId xmlns:a16="http://schemas.microsoft.com/office/drawing/2014/main" id="{1FE3B0B2-50AE-AA4E-B0AA-75D958004DAB}"/>
              </a:ext>
            </a:extLst>
          </p:cNvPr>
          <p:cNvSpPr>
            <a:spLocks noGrp="1"/>
          </p:cNvSpPr>
          <p:nvPr>
            <p:ph idx="1"/>
          </p:nvPr>
        </p:nvSpPr>
        <p:spPr/>
        <p:txBody>
          <a:bodyPr>
            <a:normAutofit/>
          </a:bodyPr>
          <a:lstStyle/>
          <a:p>
            <a:pPr marL="0" indent="0">
              <a:buNone/>
            </a:pPr>
            <a:r>
              <a:rPr lang="en-GB" noProof="0" dirty="0"/>
              <a:t>Argumentation provides a formal and principled way of reasoning with potentially inconsistent and incomplete knowledge.</a:t>
            </a:r>
          </a:p>
          <a:p>
            <a:r>
              <a:rPr lang="en-GB" noProof="0" dirty="0"/>
              <a:t>How can an </a:t>
            </a:r>
            <a:r>
              <a:rPr lang="en-GB" b="1" noProof="0" dirty="0"/>
              <a:t>argument </a:t>
            </a:r>
            <a:r>
              <a:rPr lang="en-GB" noProof="0" dirty="0"/>
              <a:t>between agents be represented within a computer system?</a:t>
            </a:r>
          </a:p>
          <a:p>
            <a:r>
              <a:rPr lang="en-GB" noProof="0" dirty="0"/>
              <a:t>How can a </a:t>
            </a:r>
            <a:r>
              <a:rPr lang="en-GB" b="1" noProof="0" dirty="0"/>
              <a:t>consistent </a:t>
            </a:r>
            <a:r>
              <a:rPr lang="en-GB" noProof="0" dirty="0"/>
              <a:t>set of </a:t>
            </a:r>
            <a:r>
              <a:rPr lang="en-GB" dirty="0"/>
              <a:t>conclusions</a:t>
            </a:r>
            <a:r>
              <a:rPr lang="en-GB" noProof="0" dirty="0"/>
              <a:t> be determined from the arguments presented?</a:t>
            </a:r>
          </a:p>
          <a:p>
            <a:r>
              <a:rPr lang="en-GB" noProof="0" dirty="0"/>
              <a:t>How </a:t>
            </a:r>
            <a:r>
              <a:rPr lang="en-GB" noProof="0"/>
              <a:t>can </a:t>
            </a:r>
            <a:r>
              <a:rPr lang="en-GB" b="1" noProof="0"/>
              <a:t>argument-based </a:t>
            </a:r>
            <a:r>
              <a:rPr lang="en-GB" b="1" noProof="0" dirty="0"/>
              <a:t>dialogues</a:t>
            </a:r>
            <a:r>
              <a:rPr lang="en-GB" noProof="0" dirty="0"/>
              <a:t> be used to help agents reach agreement, resolve conflict, and jointly reason?</a:t>
            </a:r>
          </a:p>
        </p:txBody>
      </p:sp>
    </p:spTree>
    <p:extLst>
      <p:ext uri="{BB962C8B-B14F-4D97-AF65-F5344CB8AC3E}">
        <p14:creationId xmlns:p14="http://schemas.microsoft.com/office/powerpoint/2010/main" val="289249419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11844</TotalTime>
  <Words>628</Words>
  <Application>Microsoft Macintosh PowerPoint</Application>
  <PresentationFormat>Overhead</PresentationFormat>
  <Paragraphs>46</Paragraphs>
  <Slides>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Agents and multi-agent systems</vt:lpstr>
      <vt:lpstr>Embedded agents (topic 2)</vt:lpstr>
      <vt:lpstr>Agent architectures (topics 3 and 4)</vt:lpstr>
      <vt:lpstr>Communication, coordination and cooperation (topic 5) </vt:lpstr>
      <vt:lpstr>Negotiation (topic 6)</vt:lpstr>
      <vt:lpstr>Making group decisions (topic 7)</vt:lpstr>
      <vt:lpstr>Allocation of scarce resources (topic 8)</vt:lpstr>
      <vt:lpstr>Reasoning with arguments and argument-based dialogues (topics 9 and 10)</vt:lpstr>
    </vt:vector>
  </TitlesOfParts>
  <Company>King's College London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Introduction</dc:title>
  <dc:creator>Black, Elizabeth</dc:creator>
  <cp:lastModifiedBy>Black, Elizabeth</cp:lastModifiedBy>
  <cp:revision>533</cp:revision>
  <cp:lastPrinted>2019-09-21T14:54:22Z</cp:lastPrinted>
  <dcterms:created xsi:type="dcterms:W3CDTF">2017-09-25T10:51:27Z</dcterms:created>
  <dcterms:modified xsi:type="dcterms:W3CDTF">2020-08-30T14:53:01Z</dcterms:modified>
</cp:coreProperties>
</file>