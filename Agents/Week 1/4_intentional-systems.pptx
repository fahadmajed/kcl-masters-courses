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524" r:id="rId2"/>
    <p:sldId id="525" r:id="rId3"/>
    <p:sldId id="526" r:id="rId4"/>
    <p:sldId id="527" r:id="rId5"/>
    <p:sldId id="541" r:id="rId6"/>
    <p:sldId id="542" r:id="rId7"/>
    <p:sldId id="703" r:id="rId8"/>
    <p:sldId id="54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8367"/>
  </p:normalViewPr>
  <p:slideViewPr>
    <p:cSldViewPr snapToGrid="0" snapToObjects="1">
      <p:cViewPr varScale="1">
        <p:scale>
          <a:sx n="99" d="100"/>
          <a:sy n="99" d="100"/>
        </p:scale>
        <p:origin x="2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6486E1-C727-C949-9D6C-C1DDD8340AF2}" type="datetimeFigureOut">
              <a:rPr lang="en-GB" smtClean="0"/>
              <a:t>28/08/2020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F2FF1-06BE-2C47-BFF8-B6E1D11D01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632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>
            <a:extLst>
              <a:ext uri="{FF2B5EF4-FFF2-40B4-BE49-F238E27FC236}">
                <a16:creationId xmlns:a16="http://schemas.microsoft.com/office/drawing/2014/main" id="{F4D0D98E-A682-0C4D-A572-6DEFF0ECCA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>
            <a:extLst>
              <a:ext uri="{FF2B5EF4-FFF2-40B4-BE49-F238E27FC236}">
                <a16:creationId xmlns:a16="http://schemas.microsoft.com/office/drawing/2014/main" id="{277DAF18-D974-5C4A-9AA4-037ED6D1F4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2468" name="Slide Number Placeholder 3">
            <a:extLst>
              <a:ext uri="{FF2B5EF4-FFF2-40B4-BE49-F238E27FC236}">
                <a16:creationId xmlns:a16="http://schemas.microsoft.com/office/drawing/2014/main" id="{B9B9E782-1E6D-1947-B78F-F9B158632C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D9146CF-1D38-6B46-8B88-F37DEE0968CC}" type="slidenum">
              <a:rPr lang="en-US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ヒラギノ角ゴ ProN W6" panose="020B0300000000000000" pitchFamily="34" charset="-128"/>
                <a:cs typeface="ヒラギノ角ゴ ProN W3" panose="020B0300000000000000" pitchFamily="34" charset="-128"/>
              </a:rPr>
              <a:pPr>
                <a:spcBef>
                  <a:spcPct val="0"/>
                </a:spcBef>
              </a:pPr>
              <a:t>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ヒラギノ角ゴ ProN W6" panose="020B0300000000000000" pitchFamily="34" charset="-128"/>
              <a:cs typeface="ヒラギノ角ゴ ProN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6318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4BC0B75C-F184-FF4D-84EE-2D190221E4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17837119-84FE-B94E-9D5E-2B719E566B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E43B886D-BB4E-2144-853F-5F60A5F36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D341500-0911-B643-9485-6AF087FF7799}" type="slidenum">
              <a:rPr lang="en-US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ヒラギノ角ゴ ProN W6" panose="020B0300000000000000" pitchFamily="34" charset="-128"/>
                <a:cs typeface="ヒラギノ角ゴ ProN W3" panose="020B0300000000000000" pitchFamily="34" charset="-128"/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ヒラギノ角ゴ ProN W6" panose="020B0300000000000000" pitchFamily="34" charset="-128"/>
              <a:cs typeface="ヒラギノ角ゴ ProN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797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63349835-57FA-8C43-B04C-6C59A92CC63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8D236488-794D-EB4E-A4B5-EBA32CA0B4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9B03D9F4-0913-D845-9572-35D4256BE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0FF1664-7199-3843-97A8-EE1A5EEF56D0}" type="slidenum">
              <a:rPr lang="en-US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ヒラギノ角ゴ ProN W6" panose="020B0300000000000000" pitchFamily="34" charset="-128"/>
                <a:cs typeface="ヒラギノ角ゴ ProN W3" panose="020B0300000000000000" pitchFamily="34" charset="-128"/>
              </a:rPr>
              <a:pPr>
                <a:spcBef>
                  <a:spcPct val="0"/>
                </a:spcBef>
              </a:pPr>
              <a:t>3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ヒラギノ角ゴ ProN W6" panose="020B0300000000000000" pitchFamily="34" charset="-128"/>
              <a:cs typeface="ヒラギノ角ゴ ProN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58435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>
            <a:extLst>
              <a:ext uri="{FF2B5EF4-FFF2-40B4-BE49-F238E27FC236}">
                <a16:creationId xmlns:a16="http://schemas.microsoft.com/office/drawing/2014/main" id="{451358FB-11FB-A747-8768-7EC58D7057E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>
            <a:extLst>
              <a:ext uri="{FF2B5EF4-FFF2-40B4-BE49-F238E27FC236}">
                <a16:creationId xmlns:a16="http://schemas.microsoft.com/office/drawing/2014/main" id="{DCB08C19-4EFC-E646-9EF6-A53925E15B4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endParaRPr lang="en-US" altLang="en-US">
              <a:latin typeface="KingsBureauGrot FiveOne" pitchFamily="2" charset="0"/>
              <a:ea typeface="ＭＳ Ｐゴシック" panose="020B0600070205080204" pitchFamily="34" charset="-128"/>
              <a:sym typeface="KingsBureauGrot FiveOne" pitchFamily="2" charset="0"/>
            </a:endParaRPr>
          </a:p>
        </p:txBody>
      </p:sp>
      <p:sp>
        <p:nvSpPr>
          <p:cNvPr id="68612" name="Slide Number Placeholder 3">
            <a:extLst>
              <a:ext uri="{FF2B5EF4-FFF2-40B4-BE49-F238E27FC236}">
                <a16:creationId xmlns:a16="http://schemas.microsoft.com/office/drawing/2014/main" id="{06D45768-4CFB-7E4E-826D-2FEE3E2ED7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CAFC507-0838-D94D-8E47-3B53311A3978}" type="slidenum">
              <a:rPr lang="en-US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ヒラギノ角ゴ ProN W6" panose="020B0300000000000000" pitchFamily="34" charset="-128"/>
                <a:cs typeface="ヒラギノ角ゴ ProN W3" panose="020B0300000000000000" pitchFamily="34" charset="-128"/>
              </a:rPr>
              <a:pPr>
                <a:spcBef>
                  <a:spcPct val="0"/>
                </a:spcBef>
              </a:pPr>
              <a:t>4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ヒラギノ角ゴ ProN W6" panose="020B0300000000000000" pitchFamily="34" charset="-128"/>
              <a:cs typeface="ヒラギノ角ゴ ProN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95383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>
            <a:extLst>
              <a:ext uri="{FF2B5EF4-FFF2-40B4-BE49-F238E27FC236}">
                <a16:creationId xmlns:a16="http://schemas.microsoft.com/office/drawing/2014/main" id="{C0408154-C1DE-6D42-88DB-73EB5E7CC92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>
            <a:extLst>
              <a:ext uri="{FF2B5EF4-FFF2-40B4-BE49-F238E27FC236}">
                <a16:creationId xmlns:a16="http://schemas.microsoft.com/office/drawing/2014/main" id="{7B1D35FF-D11B-D447-B65B-C6856F949A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2708" name="Slide Number Placeholder 3">
            <a:extLst>
              <a:ext uri="{FF2B5EF4-FFF2-40B4-BE49-F238E27FC236}">
                <a16:creationId xmlns:a16="http://schemas.microsoft.com/office/drawing/2014/main" id="{B9B9F634-D22A-C64E-AFFB-0FAE2D81C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2DEE1D1-A238-4A4B-ADC9-857593057D81}" type="slidenum">
              <a:rPr lang="en-US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ヒラギノ角ゴ ProN W6" panose="020B0300000000000000" pitchFamily="34" charset="-128"/>
                <a:cs typeface="ヒラギノ角ゴ ProN W3" panose="020B0300000000000000" pitchFamily="34" charset="-128"/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ヒラギノ角ゴ ProN W6" panose="020B0300000000000000" pitchFamily="34" charset="-128"/>
              <a:cs typeface="ヒラギノ角ゴ ProN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9785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>
            <a:extLst>
              <a:ext uri="{FF2B5EF4-FFF2-40B4-BE49-F238E27FC236}">
                <a16:creationId xmlns:a16="http://schemas.microsoft.com/office/drawing/2014/main" id="{A6E74EDD-5D16-5545-AD68-A9B38C5B76B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es Placeholder 2">
            <a:extLst>
              <a:ext uri="{FF2B5EF4-FFF2-40B4-BE49-F238E27FC236}">
                <a16:creationId xmlns:a16="http://schemas.microsoft.com/office/drawing/2014/main" id="{006020D2-F1E8-594E-9101-71CE14026A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4756" name="Slide Number Placeholder 3">
            <a:extLst>
              <a:ext uri="{FF2B5EF4-FFF2-40B4-BE49-F238E27FC236}">
                <a16:creationId xmlns:a16="http://schemas.microsoft.com/office/drawing/2014/main" id="{6FB3A642-B677-6B47-8850-80797FC5A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15D745B-7F06-7B4A-AF4E-3CB24801C1A1}" type="slidenum">
              <a:rPr lang="en-US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ヒラギノ角ゴ ProN W6" panose="020B0300000000000000" pitchFamily="34" charset="-128"/>
                <a:cs typeface="ヒラギノ角ゴ ProN W3" panose="020B0300000000000000" pitchFamily="34" charset="-128"/>
              </a:rPr>
              <a:pPr>
                <a:spcBef>
                  <a:spcPct val="0"/>
                </a:spcBef>
              </a:pPr>
              <a:t>6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ヒラギノ角ゴ ProN W6" panose="020B0300000000000000" pitchFamily="34" charset="-128"/>
              <a:cs typeface="ヒラギノ角ゴ ProN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37268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CB7D3287-ECD1-A649-9103-B1AE8A9CAA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4CF73FF1-2B50-AE48-9F08-0AE54D3236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BE9ED599-D34F-7240-96C3-BAAAFBA70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57BF2AB-6B11-C841-BB78-7FDA0052A836}" type="slidenum">
              <a:rPr lang="en-US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ヒラギノ角ゴ ProN W6" panose="020B0300000000000000" pitchFamily="34" charset="-128"/>
                <a:cs typeface="ヒラギノ角ゴ ProN W3" panose="020B0300000000000000" pitchFamily="34" charset="-128"/>
              </a:rPr>
              <a:pPr>
                <a:spcBef>
                  <a:spcPct val="0"/>
                </a:spcBef>
              </a:pPr>
              <a:t>7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ヒラギノ角ゴ ProN W6" panose="020B0300000000000000" pitchFamily="34" charset="-128"/>
              <a:cs typeface="ヒラギノ角ゴ ProN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99065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>
            <a:extLst>
              <a:ext uri="{FF2B5EF4-FFF2-40B4-BE49-F238E27FC236}">
                <a16:creationId xmlns:a16="http://schemas.microsoft.com/office/drawing/2014/main" id="{B03292C6-6573-1E46-A9A2-C85B3A4F3A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Notes Placeholder 2">
            <a:extLst>
              <a:ext uri="{FF2B5EF4-FFF2-40B4-BE49-F238E27FC236}">
                <a16:creationId xmlns:a16="http://schemas.microsoft.com/office/drawing/2014/main" id="{B416FF20-F7CA-1447-BB51-0278DEF79C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9876" name="Slide Number Placeholder 3">
            <a:extLst>
              <a:ext uri="{FF2B5EF4-FFF2-40B4-BE49-F238E27FC236}">
                <a16:creationId xmlns:a16="http://schemas.microsoft.com/office/drawing/2014/main" id="{3A03C514-9EAD-BE4D-A1CC-8ACF0199AD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C44FDF1-FBAD-0549-840E-6CFFE22BC193}" type="slidenum">
              <a:rPr lang="en-US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ヒラギノ角ゴ ProN W6" panose="020B0300000000000000" pitchFamily="34" charset="-128"/>
                <a:cs typeface="ヒラギノ角ゴ ProN W3" panose="020B0300000000000000" pitchFamily="34" charset="-128"/>
              </a:rPr>
              <a:pPr>
                <a:spcBef>
                  <a:spcPct val="0"/>
                </a:spcBef>
              </a:pPr>
              <a:t>8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ヒラギノ角ゴ ProN W6" panose="020B0300000000000000" pitchFamily="34" charset="-128"/>
              <a:cs typeface="ヒラギノ角ゴ ProN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61226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2723-BF61-4944-A662-014E52D10E8C}" type="datetimeFigureOut">
              <a:rPr lang="en-GB" smtClean="0"/>
              <a:t>28/08/2020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D0E2-769A-AD46-AB59-9228385D3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2523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2723-BF61-4944-A662-014E52D10E8C}" type="datetimeFigureOut">
              <a:rPr lang="en-GB" smtClean="0"/>
              <a:t>28/08/2020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D0E2-769A-AD46-AB59-9228385D3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1834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2723-BF61-4944-A662-014E52D10E8C}" type="datetimeFigureOut">
              <a:rPr lang="en-GB" smtClean="0"/>
              <a:t>28/08/2020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D0E2-769A-AD46-AB59-9228385D3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620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2723-BF61-4944-A662-014E52D10E8C}" type="datetimeFigureOut">
              <a:rPr lang="en-GB" smtClean="0"/>
              <a:t>28/08/2020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D0E2-769A-AD46-AB59-9228385D3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456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2723-BF61-4944-A662-014E52D10E8C}" type="datetimeFigureOut">
              <a:rPr lang="en-GB" smtClean="0"/>
              <a:t>28/08/2020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D0E2-769A-AD46-AB59-9228385D3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497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2723-BF61-4944-A662-014E52D10E8C}" type="datetimeFigureOut">
              <a:rPr lang="en-GB" smtClean="0"/>
              <a:t>28/08/2020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D0E2-769A-AD46-AB59-9228385D3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891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2723-BF61-4944-A662-014E52D10E8C}" type="datetimeFigureOut">
              <a:rPr lang="en-GB" smtClean="0"/>
              <a:t>28/08/2020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D0E2-769A-AD46-AB59-9228385D3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5096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2723-BF61-4944-A662-014E52D10E8C}" type="datetimeFigureOut">
              <a:rPr lang="en-GB" smtClean="0"/>
              <a:t>28/08/2020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D0E2-769A-AD46-AB59-9228385D3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98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2723-BF61-4944-A662-014E52D10E8C}" type="datetimeFigureOut">
              <a:rPr lang="en-GB" smtClean="0"/>
              <a:t>28/08/2020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D0E2-769A-AD46-AB59-9228385D3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4626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2723-BF61-4944-A662-014E52D10E8C}" type="datetimeFigureOut">
              <a:rPr lang="en-GB" smtClean="0"/>
              <a:t>28/08/2020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D0E2-769A-AD46-AB59-9228385D3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3093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2723-BF61-4944-A662-014E52D10E8C}" type="datetimeFigureOut">
              <a:rPr lang="en-GB" smtClean="0"/>
              <a:t>28/08/2020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D0E2-769A-AD46-AB59-9228385D3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8372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12723-BF61-4944-A662-014E52D10E8C}" type="datetimeFigureOut">
              <a:rPr lang="en-GB" smtClean="0"/>
              <a:t>28/08/2020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3D0E2-769A-AD46-AB59-9228385D3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632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/index.php?title=User:Viktorbuehler&amp;action=edit&amp;redlink=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hyperlink" Target="http://creativecommons.org/licenses/by-sa/3.0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>
            <a:extLst>
              <a:ext uri="{FF2B5EF4-FFF2-40B4-BE49-F238E27FC236}">
                <a16:creationId xmlns:a16="http://schemas.microsoft.com/office/drawing/2014/main" id="{C4730876-8B65-2342-8A66-C9AE35D01A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8655" y="1225868"/>
            <a:ext cx="7806690" cy="4914900"/>
          </a:xfrm>
        </p:spPr>
        <p:txBody>
          <a:bodyPr rtlCol="0">
            <a:normAutofit/>
          </a:bodyPr>
          <a:lstStyle/>
          <a:p>
            <a:pPr marL="228597" indent="-228597" defTabSz="914391">
              <a:defRPr/>
            </a:pPr>
            <a:r>
              <a:rPr lang="en-GB" altLang="en-US" sz="2520" noProof="0" dirty="0"/>
              <a:t>When explaining human activity, it is often useful to make statements such as the following:</a:t>
            </a:r>
          </a:p>
          <a:p>
            <a:pPr marL="685793" lvl="1" indent="-228597" defTabSz="914391">
              <a:defRPr/>
            </a:pPr>
            <a:r>
              <a:rPr lang="en-GB" altLang="en-US" sz="2160" noProof="0" dirty="0"/>
              <a:t>Janine took her umbrella because she </a:t>
            </a:r>
            <a:r>
              <a:rPr lang="en-GB" altLang="en-US" sz="2160" b="1" i="1" noProof="0" dirty="0">
                <a:latin typeface="KingsBureauGrot FiveOne Italic" charset="0"/>
                <a:sym typeface="KingsBureauGrot FiveOne Italic" charset="0"/>
              </a:rPr>
              <a:t>believed</a:t>
            </a:r>
            <a:r>
              <a:rPr lang="en-GB" altLang="en-US" sz="2160" noProof="0" dirty="0"/>
              <a:t> it was going to rain.</a:t>
            </a:r>
          </a:p>
          <a:p>
            <a:pPr marL="685793" lvl="1" indent="-228597" defTabSz="914391">
              <a:defRPr/>
            </a:pPr>
            <a:r>
              <a:rPr lang="en-GB" altLang="en-US" sz="2160" noProof="0" dirty="0"/>
              <a:t>Michael worked hard because he </a:t>
            </a:r>
            <a:r>
              <a:rPr lang="en-GB" altLang="en-US" sz="2160" b="1" i="1" noProof="0" dirty="0">
                <a:latin typeface="KingsBureauGrot FiveOne Italic" charset="0"/>
                <a:sym typeface="KingsBureauGrot FiveOne Italic" charset="0"/>
              </a:rPr>
              <a:t>wanted</a:t>
            </a:r>
            <a:r>
              <a:rPr lang="en-GB" altLang="en-US" sz="2160" noProof="0" dirty="0"/>
              <a:t> to possess a PhD.</a:t>
            </a:r>
          </a:p>
          <a:p>
            <a:pPr marL="457196" lvl="1" indent="0" defTabSz="914391">
              <a:buNone/>
              <a:defRPr/>
            </a:pPr>
            <a:endParaRPr lang="en-GB" altLang="en-US" sz="2160" noProof="0" dirty="0"/>
          </a:p>
          <a:p>
            <a:pPr marL="228597" indent="-228597" defTabSz="914391">
              <a:defRPr/>
            </a:pPr>
            <a:r>
              <a:rPr lang="en-GB" altLang="en-US" sz="2520" noProof="0" dirty="0"/>
              <a:t>These statements make use of a </a:t>
            </a:r>
            <a:r>
              <a:rPr lang="en-GB" altLang="en-US" sz="2520" b="1" i="1" noProof="0" dirty="0">
                <a:latin typeface="KingsBureauGrot FiveOne Italic" charset="0"/>
                <a:sym typeface="KingsBureauGrot FiveOne Italic" charset="0"/>
              </a:rPr>
              <a:t>folk psychology</a:t>
            </a:r>
            <a:r>
              <a:rPr lang="en-GB" altLang="en-US" sz="2520" noProof="0" dirty="0"/>
              <a:t>, by which human behaviour is predicted and explained through the attribution of attitudes, such as believing and wanting (as in the above examples), hoping, fearing, and so on</a:t>
            </a:r>
          </a:p>
          <a:p>
            <a:pPr marL="228597" indent="-228597" defTabSz="914391">
              <a:defRPr/>
            </a:pPr>
            <a:r>
              <a:rPr lang="en-GB" altLang="en-US" sz="2520" noProof="0" dirty="0"/>
              <a:t>The attitudes employed in such folk psychological descriptions are called the </a:t>
            </a:r>
            <a:r>
              <a:rPr lang="en-GB" altLang="en-US" sz="2520" b="1" i="1" noProof="0" dirty="0">
                <a:latin typeface="KingsBureauGrot FiveOne Italic" charset="0"/>
                <a:sym typeface="KingsBureauGrot FiveOne Italic" charset="0"/>
              </a:rPr>
              <a:t>intentional</a:t>
            </a:r>
            <a:r>
              <a:rPr lang="en-GB" altLang="en-US" sz="2520" noProof="0" dirty="0"/>
              <a:t> notions</a:t>
            </a:r>
          </a:p>
        </p:txBody>
      </p:sp>
      <p:sp>
        <p:nvSpPr>
          <p:cNvPr id="61443" name="Slide Number Placeholder 3">
            <a:extLst>
              <a:ext uri="{FF2B5EF4-FFF2-40B4-BE49-F238E27FC236}">
                <a16:creationId xmlns:a16="http://schemas.microsoft.com/office/drawing/2014/main" id="{A37EC698-4009-7642-BA63-9027E1F46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2"/>
              </a:spcBef>
              <a:buFont typeface="Arial" panose="020B0604020202020204" pitchFamily="34" charset="0"/>
              <a:buChar char="•"/>
              <a:defRPr sz="279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4138553" indent="-33727073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234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60120" indent="-19431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198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37310" indent="-19431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714500" indent="-19431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12598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53746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4894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6042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289825CB-134E-A445-BF0F-CF8C72FE8985}" type="slidenum">
              <a:rPr lang="en-US" altLang="en-US" sz="900">
                <a:solidFill>
                  <a:srgbClr val="FFFFFF"/>
                </a:solidFill>
                <a:latin typeface="Kings Caslon Display" pitchFamily="2" charset="0"/>
                <a:ea typeface="ヒラギノ角ゴ ProN W3" panose="020B0300000000000000" pitchFamily="34" charset="-128"/>
                <a:sym typeface="Kings Caslon Display" pitchFamily="2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900">
              <a:solidFill>
                <a:srgbClr val="FFFFFF"/>
              </a:solidFill>
              <a:latin typeface="Kings Caslon Display" pitchFamily="2" charset="0"/>
              <a:ea typeface="ヒラギノ角ゴ ProN W3" panose="020B0300000000000000" pitchFamily="34" charset="-128"/>
              <a:sym typeface="Kings Caslon Display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59323F-1732-5946-9651-05E5A97EA443}"/>
              </a:ext>
            </a:extLst>
          </p:cNvPr>
          <p:cNvSpPr/>
          <p:nvPr/>
        </p:nvSpPr>
        <p:spPr>
          <a:xfrm>
            <a:off x="0" y="14288"/>
            <a:ext cx="9144000" cy="750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620"/>
          </a:p>
        </p:txBody>
      </p:sp>
      <p:sp>
        <p:nvSpPr>
          <p:cNvPr id="61445" name="Title 1">
            <a:extLst>
              <a:ext uri="{FF2B5EF4-FFF2-40B4-BE49-F238E27FC236}">
                <a16:creationId xmlns:a16="http://schemas.microsoft.com/office/drawing/2014/main" id="{E30E91E1-59B6-1548-8BF3-4D548B78965F}"/>
              </a:ext>
            </a:extLst>
          </p:cNvPr>
          <p:cNvSpPr txBox="1">
            <a:spLocks/>
          </p:cNvSpPr>
          <p:nvPr/>
        </p:nvSpPr>
        <p:spPr bwMode="auto">
          <a:xfrm>
            <a:off x="378620" y="14288"/>
            <a:ext cx="7505223" cy="808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1014413">
              <a:lnSpc>
                <a:spcPct val="90000"/>
              </a:lnSpc>
              <a:spcBef>
                <a:spcPts val="1113"/>
              </a:spcBef>
              <a:buFont typeface="Arial" panose="020B0604020202020204" pitchFamily="34" charset="0"/>
              <a:buChar char="•"/>
              <a:defRPr sz="3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80">
                <a:latin typeface="Calibri Light" panose="020F0302020204030204" pitchFamily="34" charset="0"/>
                <a:cs typeface="ヒラギノ角ゴ ProN W3" panose="020B0300000000000000" pitchFamily="34" charset="-128"/>
              </a:rPr>
              <a:t>Agents as Intentional Systems</a:t>
            </a:r>
            <a:endParaRPr lang="en-GB" altLang="en-US" sz="2880" b="1">
              <a:latin typeface="Calibri Light" panose="020F0302020204030204" pitchFamily="34" charset="0"/>
              <a:cs typeface="ヒラギノ角ゴ ProN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0255676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>
            <a:extLst>
              <a:ext uri="{FF2B5EF4-FFF2-40B4-BE49-F238E27FC236}">
                <a16:creationId xmlns:a16="http://schemas.microsoft.com/office/drawing/2014/main" id="{FB4F6AE8-9552-E243-9091-5EE4B7921D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2943" y="1400175"/>
            <a:ext cx="8275320" cy="4720590"/>
          </a:xfrm>
        </p:spPr>
        <p:txBody>
          <a:bodyPr rtlCol="0">
            <a:normAutofit/>
          </a:bodyPr>
          <a:lstStyle/>
          <a:p>
            <a:pPr marL="0" indent="0" defTabSz="914391">
              <a:buNone/>
              <a:defRPr/>
            </a:pPr>
            <a:r>
              <a:rPr lang="en-GB" altLang="en-US" noProof="0" dirty="0"/>
              <a:t>The philosopher Daniel Dennett coined the term intentional system to describe entities ‘whose </a:t>
            </a:r>
            <a:r>
              <a:rPr lang="en-GB" altLang="en-US" noProof="0" dirty="0" err="1"/>
              <a:t>behavior</a:t>
            </a:r>
            <a:r>
              <a:rPr lang="en-GB" altLang="en-US" noProof="0" dirty="0"/>
              <a:t> can be predicted by the method of attributing belief, desires and rational acumen’</a:t>
            </a:r>
          </a:p>
        </p:txBody>
      </p:sp>
      <p:sp>
        <p:nvSpPr>
          <p:cNvPr id="63491" name="Slide Number Placeholder 3">
            <a:extLst>
              <a:ext uri="{FF2B5EF4-FFF2-40B4-BE49-F238E27FC236}">
                <a16:creationId xmlns:a16="http://schemas.microsoft.com/office/drawing/2014/main" id="{2603A4D9-FAD8-D04C-9AF8-65A48A61E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2"/>
              </a:spcBef>
              <a:buFont typeface="Arial" panose="020B0604020202020204" pitchFamily="34" charset="0"/>
              <a:buChar char="•"/>
              <a:defRPr sz="279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4138553" indent="-33727073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234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60120" indent="-19431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198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37310" indent="-19431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714500" indent="-19431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12598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53746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4894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6042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1320B01-2A96-DB4A-B8D6-C7CD23F91671}" type="slidenum">
              <a:rPr lang="en-US" altLang="en-US" sz="900">
                <a:solidFill>
                  <a:srgbClr val="FFFFFF"/>
                </a:solidFill>
                <a:latin typeface="Kings Caslon Display" pitchFamily="2" charset="0"/>
                <a:ea typeface="ヒラギノ角ゴ ProN W3" panose="020B0300000000000000" pitchFamily="34" charset="-128"/>
                <a:sym typeface="Kings Caslon Display" pitchFamily="2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900">
              <a:solidFill>
                <a:srgbClr val="FFFFFF"/>
              </a:solidFill>
              <a:latin typeface="Kings Caslon Display" pitchFamily="2" charset="0"/>
              <a:ea typeface="ヒラギノ角ゴ ProN W3" panose="020B0300000000000000" pitchFamily="34" charset="-128"/>
              <a:sym typeface="Kings Caslon Display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AF80B-7034-7C48-9708-B4258F22E4AB}"/>
              </a:ext>
            </a:extLst>
          </p:cNvPr>
          <p:cNvSpPr txBox="1"/>
          <p:nvPr/>
        </p:nvSpPr>
        <p:spPr>
          <a:xfrm>
            <a:off x="5113497" y="5896452"/>
            <a:ext cx="3194685" cy="2585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1080" dirty="0">
                <a:ea typeface="ヒラギノ明朝 ProN W3" charset="-128"/>
              </a:rPr>
              <a:t>Image: </a:t>
            </a:r>
            <a:r>
              <a:rPr lang="en-GB" sz="1080" dirty="0" err="1">
                <a:ea typeface="ヒラギノ明朝 ProN W3" charset="-128"/>
                <a:hlinkClick r:id="rId3" tooltip="User:Viktorbuehler (page does not exist)"/>
              </a:rPr>
              <a:t>Viktorbuehler</a:t>
            </a:r>
            <a:r>
              <a:rPr lang="en-GB" sz="1080" dirty="0">
                <a:ea typeface="ヒラギノ明朝 ProN W3" charset="-128"/>
              </a:rPr>
              <a:t> (</a:t>
            </a:r>
            <a:r>
              <a:rPr lang="en-GB" sz="1080" dirty="0">
                <a:ea typeface="ヒラギノ明朝 ProN W3" charset="-128"/>
                <a:hlinkClick r:id="rId4"/>
              </a:rPr>
              <a:t>CC BY-SA 3.0</a:t>
            </a:r>
            <a:r>
              <a:rPr lang="en-GB" sz="1080" dirty="0">
                <a:ea typeface="ヒラギノ明朝 ProN W3" charset="-128"/>
              </a:rPr>
              <a:t> license)</a:t>
            </a:r>
          </a:p>
        </p:txBody>
      </p:sp>
      <p:pic>
        <p:nvPicPr>
          <p:cNvPr id="63493" name="Picture 1">
            <a:extLst>
              <a:ext uri="{FF2B5EF4-FFF2-40B4-BE49-F238E27FC236}">
                <a16:creationId xmlns:a16="http://schemas.microsoft.com/office/drawing/2014/main" id="{DAECB1BF-A2D6-1E4D-9292-EA4024D497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568" y="3298985"/>
            <a:ext cx="3767614" cy="251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63EF75-2BE5-D540-A0B1-EDC70971B0A1}"/>
              </a:ext>
            </a:extLst>
          </p:cNvPr>
          <p:cNvSpPr/>
          <p:nvPr/>
        </p:nvSpPr>
        <p:spPr>
          <a:xfrm>
            <a:off x="0" y="14288"/>
            <a:ext cx="9144000" cy="750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620"/>
          </a:p>
        </p:txBody>
      </p:sp>
      <p:sp>
        <p:nvSpPr>
          <p:cNvPr id="63495" name="Title 1">
            <a:extLst>
              <a:ext uri="{FF2B5EF4-FFF2-40B4-BE49-F238E27FC236}">
                <a16:creationId xmlns:a16="http://schemas.microsoft.com/office/drawing/2014/main" id="{EBF12CD6-82FB-624E-ADCE-A9208A535BFE}"/>
              </a:ext>
            </a:extLst>
          </p:cNvPr>
          <p:cNvSpPr txBox="1">
            <a:spLocks/>
          </p:cNvSpPr>
          <p:nvPr/>
        </p:nvSpPr>
        <p:spPr bwMode="auto">
          <a:xfrm>
            <a:off x="378620" y="14288"/>
            <a:ext cx="7505223" cy="808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1014413">
              <a:lnSpc>
                <a:spcPct val="90000"/>
              </a:lnSpc>
              <a:spcBef>
                <a:spcPts val="1113"/>
              </a:spcBef>
              <a:buFont typeface="Arial" panose="020B0604020202020204" pitchFamily="34" charset="0"/>
              <a:buChar char="•"/>
              <a:defRPr sz="3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80">
                <a:latin typeface="Calibri Light" panose="020F0302020204030204" pitchFamily="34" charset="0"/>
                <a:cs typeface="ヒラギノ角ゴ ProN W3" panose="020B0300000000000000" pitchFamily="34" charset="-128"/>
              </a:rPr>
              <a:t>Agents as Intentional Systems</a:t>
            </a:r>
            <a:endParaRPr lang="en-GB" altLang="en-US" sz="2880" b="1">
              <a:latin typeface="Calibri Light" panose="020F0302020204030204" pitchFamily="34" charset="0"/>
              <a:cs typeface="ヒラギノ角ゴ ProN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35260598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>
            <a:extLst>
              <a:ext uri="{FF2B5EF4-FFF2-40B4-BE49-F238E27FC236}">
                <a16:creationId xmlns:a16="http://schemas.microsoft.com/office/drawing/2014/main" id="{00F56565-9749-8A4A-817E-B7D329BC56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0" indent="0" defTabSz="914391">
              <a:buNone/>
              <a:defRPr/>
            </a:pPr>
            <a:r>
              <a:rPr lang="en-GB" altLang="en-US" noProof="0" dirty="0"/>
              <a:t>Is it legitimate or useful to attribute beliefs, desires, and so on, to computer systems?</a:t>
            </a:r>
          </a:p>
        </p:txBody>
      </p:sp>
      <p:sp>
        <p:nvSpPr>
          <p:cNvPr id="65539" name="Slide Number Placeholder 3">
            <a:extLst>
              <a:ext uri="{FF2B5EF4-FFF2-40B4-BE49-F238E27FC236}">
                <a16:creationId xmlns:a16="http://schemas.microsoft.com/office/drawing/2014/main" id="{88EC534E-F212-924A-B2FB-E6F6F179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2"/>
              </a:spcBef>
              <a:buFont typeface="Arial" panose="020B0604020202020204" pitchFamily="34" charset="0"/>
              <a:buChar char="•"/>
              <a:defRPr sz="279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4138553" indent="-33727073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234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60120" indent="-19431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198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37310" indent="-19431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714500" indent="-19431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12598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53746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4894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6042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39DD7594-B92F-A942-9888-50CB564A150D}" type="slidenum">
              <a:rPr lang="en-US" altLang="en-US" sz="900">
                <a:solidFill>
                  <a:srgbClr val="FFFFFF"/>
                </a:solidFill>
                <a:latin typeface="Kings Caslon Display" pitchFamily="2" charset="0"/>
                <a:ea typeface="ヒラギノ角ゴ ProN W3" panose="020B0300000000000000" pitchFamily="34" charset="-128"/>
                <a:sym typeface="Kings Caslon Display" pitchFamily="2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900">
              <a:solidFill>
                <a:srgbClr val="FFFFFF"/>
              </a:solidFill>
              <a:latin typeface="Kings Caslon Display" pitchFamily="2" charset="0"/>
              <a:ea typeface="ヒラギノ角ゴ ProN W3" panose="020B0300000000000000" pitchFamily="34" charset="-128"/>
              <a:sym typeface="Kings Caslon Display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AFD74-F16B-5C4A-A191-C01C6ED546FC}"/>
              </a:ext>
            </a:extLst>
          </p:cNvPr>
          <p:cNvSpPr/>
          <p:nvPr/>
        </p:nvSpPr>
        <p:spPr>
          <a:xfrm>
            <a:off x="0" y="14288"/>
            <a:ext cx="9144000" cy="750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620"/>
          </a:p>
        </p:txBody>
      </p:sp>
      <p:sp>
        <p:nvSpPr>
          <p:cNvPr id="65541" name="Title 1">
            <a:extLst>
              <a:ext uri="{FF2B5EF4-FFF2-40B4-BE49-F238E27FC236}">
                <a16:creationId xmlns:a16="http://schemas.microsoft.com/office/drawing/2014/main" id="{E6583A0A-BCB2-DE48-BFD2-3BE27DA063E7}"/>
              </a:ext>
            </a:extLst>
          </p:cNvPr>
          <p:cNvSpPr txBox="1">
            <a:spLocks/>
          </p:cNvSpPr>
          <p:nvPr/>
        </p:nvSpPr>
        <p:spPr bwMode="auto">
          <a:xfrm>
            <a:off x="378620" y="14288"/>
            <a:ext cx="7505223" cy="808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1014413">
              <a:lnSpc>
                <a:spcPct val="90000"/>
              </a:lnSpc>
              <a:spcBef>
                <a:spcPts val="1113"/>
              </a:spcBef>
              <a:buFont typeface="Arial" panose="020B0604020202020204" pitchFamily="34" charset="0"/>
              <a:buChar char="•"/>
              <a:defRPr sz="3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80">
                <a:latin typeface="Calibri Light" panose="020F0302020204030204" pitchFamily="34" charset="0"/>
                <a:cs typeface="ヒラギノ角ゴ ProN W3" panose="020B0300000000000000" pitchFamily="34" charset="-128"/>
              </a:rPr>
              <a:t>Agents as Intentional Systems</a:t>
            </a:r>
            <a:endParaRPr lang="en-GB" altLang="en-US" sz="2880" b="1">
              <a:latin typeface="Calibri Light" panose="020F0302020204030204" pitchFamily="34" charset="0"/>
              <a:cs typeface="ヒラギノ角ゴ ProN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2555331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C99847DB-46BB-C24A-BE9A-A32ED53E13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0095" y="1044417"/>
            <a:ext cx="7623810" cy="914400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520" noProof="0" dirty="0"/>
              <a:t>McCarthy argued that there are occasions when the intentional stance is appropriate:</a:t>
            </a:r>
          </a:p>
        </p:txBody>
      </p:sp>
      <p:sp>
        <p:nvSpPr>
          <p:cNvPr id="67587" name="Slide Number Placeholder 3">
            <a:extLst>
              <a:ext uri="{FF2B5EF4-FFF2-40B4-BE49-F238E27FC236}">
                <a16:creationId xmlns:a16="http://schemas.microsoft.com/office/drawing/2014/main" id="{6FA5A307-D751-5849-A792-F985B80A2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2"/>
              </a:spcBef>
              <a:buFont typeface="Arial" panose="020B0604020202020204" pitchFamily="34" charset="0"/>
              <a:buChar char="•"/>
              <a:defRPr sz="279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4138553" indent="-33727073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234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60120" indent="-19431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198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37310" indent="-19431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714500" indent="-19431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12598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53746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4894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6042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5501F02E-C8FC-294B-A1FF-00DBA5BECA25}" type="slidenum">
              <a:rPr lang="en-US" altLang="en-US" sz="900">
                <a:solidFill>
                  <a:srgbClr val="FFFFFF"/>
                </a:solidFill>
                <a:latin typeface="Kings Caslon Display" pitchFamily="2" charset="0"/>
                <a:ea typeface="ヒラギノ角ゴ ProN W3" panose="020B0300000000000000" pitchFamily="34" charset="-128"/>
                <a:sym typeface="Kings Caslon Display" pitchFamily="2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900">
              <a:solidFill>
                <a:srgbClr val="FFFFFF"/>
              </a:solidFill>
              <a:latin typeface="Kings Caslon Display" pitchFamily="2" charset="0"/>
              <a:ea typeface="ヒラギノ角ゴ ProN W3" panose="020B0300000000000000" pitchFamily="34" charset="-128"/>
              <a:sym typeface="Kings Caslon Display" pitchFamily="2" charset="0"/>
            </a:endParaRPr>
          </a:p>
        </p:txBody>
      </p:sp>
      <p:sp>
        <p:nvSpPr>
          <p:cNvPr id="59397" name="Rectangle 3">
            <a:extLst>
              <a:ext uri="{FF2B5EF4-FFF2-40B4-BE49-F238E27FC236}">
                <a16:creationId xmlns:a16="http://schemas.microsoft.com/office/drawing/2014/main" id="{047A3A6A-3FF0-AD49-81AD-46FF76E4001C}"/>
              </a:ext>
            </a:extLst>
          </p:cNvPr>
          <p:cNvSpPr>
            <a:spLocks/>
          </p:cNvSpPr>
          <p:nvPr/>
        </p:nvSpPr>
        <p:spPr bwMode="auto">
          <a:xfrm>
            <a:off x="388620" y="2163128"/>
            <a:ext cx="8606790" cy="378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40" bIns="0"/>
          <a:lstStyle>
            <a:lvl1pPr marL="44450">
              <a:lnSpc>
                <a:spcPct val="120000"/>
              </a:lnSpc>
              <a:spcBef>
                <a:spcPts val="800"/>
              </a:spcBef>
              <a:buClr>
                <a:srgbClr val="065981"/>
              </a:buClr>
              <a:buSzPct val="100000"/>
              <a:buFont typeface="KingsBureauGrot FiveOne" panose="02000506040000020004" pitchFamily="2" charset="0"/>
              <a:buChar char="•"/>
              <a:defRPr sz="2500">
                <a:solidFill>
                  <a:schemeClr val="tx1"/>
                </a:solidFill>
                <a:latin typeface="KingsBureauGrot FiveOne" panose="02000506040000020004" pitchFamily="2" charset="0"/>
                <a:ea typeface="ヒラギノ角ゴ ProN W3" charset="-128"/>
                <a:sym typeface="KingsBureauGrot FiveOne" panose="02000506040000020004" pitchFamily="2" charset="0"/>
              </a:defRPr>
            </a:lvl1pPr>
            <a:lvl2pPr marL="37931725" indent="-37474525">
              <a:spcBef>
                <a:spcPts val="700"/>
              </a:spcBef>
              <a:buClr>
                <a:srgbClr val="065981"/>
              </a:buClr>
              <a:buSzPct val="100000"/>
              <a:buFont typeface="Times" panose="02020603050405020304" pitchFamily="18" charset="0"/>
              <a:buChar char="•"/>
              <a:defRPr sz="2400">
                <a:solidFill>
                  <a:schemeClr val="tx1"/>
                </a:solidFill>
                <a:latin typeface="KingsBureauGrot FiveOne" panose="02000506040000020004" pitchFamily="2" charset="0"/>
                <a:ea typeface="ヒラギノ角ゴ ProN W3" charset="-128"/>
                <a:sym typeface="KingsBureauGrot FiveOne" panose="02000506040000020004" pitchFamily="2" charset="0"/>
              </a:defRPr>
            </a:lvl2pPr>
            <a:lvl3pPr marL="1066800" indent="-215900">
              <a:spcBef>
                <a:spcPts val="600"/>
              </a:spcBef>
              <a:buClr>
                <a:srgbClr val="065981"/>
              </a:buClr>
              <a:buSzPct val="100000"/>
              <a:buFont typeface="KingsBureauGrot FiveOne" panose="02000506040000020004" pitchFamily="2" charset="0"/>
              <a:buChar char="•"/>
              <a:defRPr sz="2200">
                <a:solidFill>
                  <a:schemeClr val="tx1"/>
                </a:solidFill>
                <a:latin typeface="KingsBureauGrot FiveOne" panose="02000506040000020004" pitchFamily="2" charset="0"/>
                <a:ea typeface="ヒラギノ角ゴ ProN W3" charset="-128"/>
                <a:sym typeface="KingsBureauGrot FiveOne" panose="02000506040000020004" pitchFamily="2" charset="0"/>
              </a:defRPr>
            </a:lvl3pPr>
            <a:lvl4pPr marL="1485900" indent="-215900">
              <a:spcBef>
                <a:spcPts val="500"/>
              </a:spcBef>
              <a:buClr>
                <a:srgbClr val="065981"/>
              </a:buClr>
              <a:buSzPct val="100000"/>
              <a:buFont typeface="KingsBureauGrot FiveOne" panose="02000506040000020004" pitchFamily="2" charset="0"/>
              <a:buChar char="–"/>
              <a:defRPr sz="2000">
                <a:solidFill>
                  <a:schemeClr val="tx1"/>
                </a:solidFill>
                <a:latin typeface="KingsBureauGrot FiveOne" panose="02000506040000020004" pitchFamily="2" charset="0"/>
                <a:ea typeface="ヒラギノ角ゴ ProN W3" charset="-128"/>
                <a:sym typeface="KingsBureauGrot FiveOne" panose="02000506040000020004" pitchFamily="2" charset="0"/>
              </a:defRPr>
            </a:lvl4pPr>
            <a:lvl5pPr marL="1905000" indent="-215900">
              <a:spcBef>
                <a:spcPts val="400"/>
              </a:spcBef>
              <a:buClr>
                <a:srgbClr val="065981"/>
              </a:buClr>
              <a:buSzPct val="100000"/>
              <a:buFont typeface="KingsBureauGrot FiveOne" panose="02000506040000020004" pitchFamily="2" charset="0"/>
              <a:buChar char="–"/>
              <a:defRPr sz="2000">
                <a:solidFill>
                  <a:schemeClr val="tx1"/>
                </a:solidFill>
                <a:latin typeface="KingsBureauGrot FiveOne" panose="02000506040000020004" pitchFamily="2" charset="0"/>
                <a:ea typeface="ヒラギノ角ゴ ProN W3" charset="-128"/>
                <a:sym typeface="KingsBureauGrot FiveOne" panose="02000506040000020004" pitchFamily="2" charset="0"/>
              </a:defRPr>
            </a:lvl5pPr>
            <a:lvl6pPr marL="2362200" indent="-2159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65981"/>
              </a:buClr>
              <a:buSzPct val="100000"/>
              <a:buFont typeface="KingsBureauGrot FiveOne" panose="02000506040000020004" pitchFamily="2" charset="0"/>
              <a:buChar char="–"/>
              <a:defRPr sz="2000">
                <a:solidFill>
                  <a:schemeClr val="tx1"/>
                </a:solidFill>
                <a:latin typeface="KingsBureauGrot FiveOne" panose="02000506040000020004" pitchFamily="2" charset="0"/>
                <a:ea typeface="ヒラギノ角ゴ ProN W3" charset="-128"/>
                <a:sym typeface="KingsBureauGrot FiveOne" panose="02000506040000020004" pitchFamily="2" charset="0"/>
              </a:defRPr>
            </a:lvl6pPr>
            <a:lvl7pPr marL="2819400" indent="-2159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65981"/>
              </a:buClr>
              <a:buSzPct val="100000"/>
              <a:buFont typeface="KingsBureauGrot FiveOne" panose="02000506040000020004" pitchFamily="2" charset="0"/>
              <a:buChar char="–"/>
              <a:defRPr sz="2000">
                <a:solidFill>
                  <a:schemeClr val="tx1"/>
                </a:solidFill>
                <a:latin typeface="KingsBureauGrot FiveOne" panose="02000506040000020004" pitchFamily="2" charset="0"/>
                <a:ea typeface="ヒラギノ角ゴ ProN W3" charset="-128"/>
                <a:sym typeface="KingsBureauGrot FiveOne" panose="02000506040000020004" pitchFamily="2" charset="0"/>
              </a:defRPr>
            </a:lvl7pPr>
            <a:lvl8pPr marL="3276600" indent="-2159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65981"/>
              </a:buClr>
              <a:buSzPct val="100000"/>
              <a:buFont typeface="KingsBureauGrot FiveOne" panose="02000506040000020004" pitchFamily="2" charset="0"/>
              <a:buChar char="–"/>
              <a:defRPr sz="2000">
                <a:solidFill>
                  <a:schemeClr val="tx1"/>
                </a:solidFill>
                <a:latin typeface="KingsBureauGrot FiveOne" panose="02000506040000020004" pitchFamily="2" charset="0"/>
                <a:ea typeface="ヒラギノ角ゴ ProN W3" charset="-128"/>
                <a:sym typeface="KingsBureauGrot FiveOne" panose="02000506040000020004" pitchFamily="2" charset="0"/>
              </a:defRPr>
            </a:lvl8pPr>
            <a:lvl9pPr marL="3733800" indent="-2159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65981"/>
              </a:buClr>
              <a:buSzPct val="100000"/>
              <a:buFont typeface="KingsBureauGrot FiveOne" panose="02000506040000020004" pitchFamily="2" charset="0"/>
              <a:buChar char="–"/>
              <a:defRPr sz="2000">
                <a:solidFill>
                  <a:schemeClr val="tx1"/>
                </a:solidFill>
                <a:latin typeface="KingsBureauGrot FiveOne" panose="02000506040000020004" pitchFamily="2" charset="0"/>
                <a:ea typeface="ヒラギノ角ゴ ProN W3" charset="-128"/>
                <a:sym typeface="KingsBureauGrot FiveOne" panose="02000506040000020004" pitchFamily="2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520" dirty="0">
                <a:latin typeface="+mn-lt"/>
              </a:rPr>
              <a:t>‘To ascribe </a:t>
            </a:r>
            <a:r>
              <a:rPr lang="en-US" altLang="en-US" sz="2520" b="1" i="1" dirty="0">
                <a:latin typeface="+mn-lt"/>
                <a:sym typeface="KingsBureauGrot FiveOne Italic" charset="0"/>
              </a:rPr>
              <a:t>beliefs, free will, intentions, consciousness</a:t>
            </a:r>
            <a:r>
              <a:rPr lang="en-US" altLang="en-US" sz="2520" b="1" i="1" dirty="0">
                <a:latin typeface="+mn-lt"/>
              </a:rPr>
              <a:t>, </a:t>
            </a:r>
            <a:r>
              <a:rPr lang="en-US" altLang="en-US" sz="2520" b="1" i="1" dirty="0">
                <a:latin typeface="+mn-lt"/>
                <a:sym typeface="KingsBureauGrot FiveOne Italic" charset="0"/>
              </a:rPr>
              <a:t>abilities</a:t>
            </a:r>
            <a:r>
              <a:rPr lang="en-US" altLang="en-US" sz="2520" b="1" i="1" dirty="0">
                <a:latin typeface="+mn-lt"/>
              </a:rPr>
              <a:t>,</a:t>
            </a:r>
            <a:r>
              <a:rPr lang="en-US" altLang="en-US" sz="2520" dirty="0">
                <a:latin typeface="+mn-lt"/>
              </a:rPr>
              <a:t> or </a:t>
            </a:r>
            <a:r>
              <a:rPr lang="en-US" altLang="en-US" sz="2520" b="1" i="1" dirty="0">
                <a:latin typeface="+mn-lt"/>
                <a:sym typeface="KingsBureauGrot FiveOne Italic" charset="0"/>
              </a:rPr>
              <a:t>wants</a:t>
            </a:r>
            <a:r>
              <a:rPr lang="en-US" altLang="en-US" sz="2520" dirty="0">
                <a:latin typeface="+mn-lt"/>
              </a:rPr>
              <a:t> to a machine is </a:t>
            </a:r>
            <a:r>
              <a:rPr lang="en-US" altLang="en-US" sz="2520" b="1" i="1" dirty="0">
                <a:latin typeface="+mn-lt"/>
                <a:sym typeface="KingsBureauGrot FiveOne Italic" charset="0"/>
              </a:rPr>
              <a:t>legitimate</a:t>
            </a:r>
            <a:r>
              <a:rPr lang="en-US" altLang="en-US" sz="2520" dirty="0">
                <a:latin typeface="+mn-lt"/>
              </a:rPr>
              <a:t> when such an ascription expresses the same information about the machine that it expresses about a person. It is </a:t>
            </a:r>
            <a:r>
              <a:rPr lang="en-US" altLang="en-US" sz="2520" b="1" i="1" dirty="0">
                <a:latin typeface="+mn-lt"/>
                <a:sym typeface="KingsBureauGrot FiveOne Italic" charset="0"/>
              </a:rPr>
              <a:t>useful</a:t>
            </a:r>
            <a:r>
              <a:rPr lang="en-US" altLang="en-US" sz="2520" dirty="0">
                <a:latin typeface="+mn-lt"/>
              </a:rPr>
              <a:t> when the ascription helps us understand the structure of the machine, its past or future behavior, or how to repair or improve it. It is perhaps never </a:t>
            </a:r>
            <a:r>
              <a:rPr lang="en-US" altLang="en-US" sz="2520" b="1" i="1" dirty="0">
                <a:latin typeface="+mn-lt"/>
                <a:sym typeface="KingsBureauGrot FiveOne Italic" charset="0"/>
              </a:rPr>
              <a:t>logically required</a:t>
            </a:r>
            <a:r>
              <a:rPr lang="en-US" altLang="en-US" sz="2520" dirty="0">
                <a:latin typeface="+mn-lt"/>
              </a:rPr>
              <a:t> even for humans, but expressing reasonably briefly what is actually known about the state of the machine in a particular situation may require mental qualities or qualities isomorphic to them.’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0E1A7-8C83-E447-9D3F-EE75F9C058C7}"/>
              </a:ext>
            </a:extLst>
          </p:cNvPr>
          <p:cNvSpPr txBox="1"/>
          <p:nvPr/>
        </p:nvSpPr>
        <p:spPr>
          <a:xfrm>
            <a:off x="488633" y="6086475"/>
            <a:ext cx="7870040" cy="3139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sz="1440" dirty="0">
                <a:ea typeface="ヒラギノ明朝 ProN W3" charset="-128"/>
                <a:sym typeface="Times New Roman" charset="0"/>
              </a:rPr>
              <a:t>J. McCarthy. </a:t>
            </a:r>
            <a:r>
              <a:rPr lang="en-GB" sz="1440" i="1" dirty="0">
                <a:ea typeface="ヒラギノ明朝 ProN W3" charset="-128"/>
                <a:sym typeface="Times New Roman" charset="0"/>
              </a:rPr>
              <a:t>Ascribing mental qualities to machines</a:t>
            </a:r>
            <a:r>
              <a:rPr lang="en-GB" sz="1440" dirty="0">
                <a:ea typeface="ヒラギノ明朝 ProN W3" charset="-128"/>
                <a:sym typeface="Times New Roman" charset="0"/>
              </a:rPr>
              <a:t>. Technical report, Stanford University AI Lab., 1978.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23ED72-C105-2147-9C89-C310B5BD44D0}"/>
              </a:ext>
            </a:extLst>
          </p:cNvPr>
          <p:cNvSpPr/>
          <p:nvPr/>
        </p:nvSpPr>
        <p:spPr>
          <a:xfrm>
            <a:off x="0" y="14288"/>
            <a:ext cx="9144000" cy="750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620"/>
          </a:p>
        </p:txBody>
      </p:sp>
      <p:sp>
        <p:nvSpPr>
          <p:cNvPr id="67591" name="Title 1">
            <a:extLst>
              <a:ext uri="{FF2B5EF4-FFF2-40B4-BE49-F238E27FC236}">
                <a16:creationId xmlns:a16="http://schemas.microsoft.com/office/drawing/2014/main" id="{28570B23-21F9-1A43-A852-613381C0FE2B}"/>
              </a:ext>
            </a:extLst>
          </p:cNvPr>
          <p:cNvSpPr txBox="1">
            <a:spLocks/>
          </p:cNvSpPr>
          <p:nvPr/>
        </p:nvSpPr>
        <p:spPr bwMode="auto">
          <a:xfrm>
            <a:off x="378620" y="14288"/>
            <a:ext cx="7505223" cy="808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1014413">
              <a:lnSpc>
                <a:spcPct val="90000"/>
              </a:lnSpc>
              <a:spcBef>
                <a:spcPts val="1113"/>
              </a:spcBef>
              <a:buFont typeface="Arial" panose="020B0604020202020204" pitchFamily="34" charset="0"/>
              <a:buChar char="•"/>
              <a:defRPr sz="3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80">
                <a:latin typeface="Calibri Light" panose="020F0302020204030204" pitchFamily="34" charset="0"/>
                <a:cs typeface="ヒラギノ角ゴ ProN W3" panose="020B0300000000000000" pitchFamily="34" charset="-128"/>
              </a:rPr>
              <a:t>Agents as Intentional Systems</a:t>
            </a:r>
            <a:endParaRPr lang="en-GB" altLang="en-US" sz="2880" b="1">
              <a:latin typeface="Calibri Light" panose="020F0302020204030204" pitchFamily="34" charset="0"/>
              <a:cs typeface="ヒラギノ角ゴ ProN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9017796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776DDAB3-E16B-C647-8F8A-E4485EDD47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095852"/>
            <a:ext cx="7886700" cy="5319236"/>
          </a:xfrm>
        </p:spPr>
        <p:txBody>
          <a:bodyPr rtlCol="0">
            <a:normAutofit lnSpcReduction="10000"/>
          </a:bodyPr>
          <a:lstStyle/>
          <a:p>
            <a:pPr marL="0" indent="0">
              <a:buNone/>
              <a:defRPr/>
            </a:pPr>
            <a:r>
              <a:rPr lang="en-GB" altLang="en-US" sz="2520" noProof="0" dirty="0"/>
              <a:t>What objects can be described by the intentional stance?</a:t>
            </a:r>
          </a:p>
          <a:p>
            <a:pPr marL="0" indent="0">
              <a:buNone/>
              <a:defRPr/>
            </a:pPr>
            <a:r>
              <a:rPr lang="en-GB" altLang="en-US" sz="2520" noProof="0" dirty="0"/>
              <a:t>As it turns out, more or less anything can. . . consider a light switch: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GB" altLang="en-US" sz="2520" noProof="0" dirty="0"/>
              <a:t>‘It is perfectly coherent to treat a light switch as a (very cooperative) agent with the capability of transmitting current at will, who invariably transmits current when it believes that we want it transmitted and not otherwise; flicking the switch is simply our way of communicating our desires’. </a:t>
            </a:r>
          </a:p>
          <a:p>
            <a:pPr lvl="1" eaLnBrk="1" hangingPunct="1">
              <a:lnSpc>
                <a:spcPct val="120000"/>
              </a:lnSpc>
              <a:defRPr/>
            </a:pPr>
            <a:endParaRPr lang="en-GB" altLang="en-US" sz="2520" noProof="0" dirty="0"/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GB" altLang="en-US" sz="2520" noProof="0" dirty="0"/>
              <a:t>But most adults would find such a description absurd!</a:t>
            </a:r>
            <a:br>
              <a:rPr lang="en-GB" altLang="en-US" sz="2520" noProof="0" dirty="0"/>
            </a:br>
            <a:r>
              <a:rPr lang="en-GB" altLang="en-US" sz="2520" noProof="0" dirty="0"/>
              <a:t>Why is this?</a:t>
            </a:r>
          </a:p>
          <a:p>
            <a:pPr marL="0" indent="0">
              <a:buNone/>
              <a:defRPr/>
            </a:pPr>
            <a:endParaRPr lang="en-GB" altLang="en-US" sz="2520" noProof="0" dirty="0"/>
          </a:p>
        </p:txBody>
      </p:sp>
      <p:sp>
        <p:nvSpPr>
          <p:cNvPr id="71683" name="Slide Number Placeholder 3">
            <a:extLst>
              <a:ext uri="{FF2B5EF4-FFF2-40B4-BE49-F238E27FC236}">
                <a16:creationId xmlns:a16="http://schemas.microsoft.com/office/drawing/2014/main" id="{26BF55A6-78BA-CA4E-B880-7C5640A1E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2"/>
              </a:spcBef>
              <a:buFont typeface="Arial" panose="020B0604020202020204" pitchFamily="34" charset="0"/>
              <a:buChar char="•"/>
              <a:defRPr sz="279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4138553" indent="-33727073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234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60120" indent="-19431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198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37310" indent="-19431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714500" indent="-19431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12598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53746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4894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6042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59AC5FF-07A3-9C43-BA60-B6023D5CD972}" type="slidenum">
              <a:rPr lang="en-US" altLang="en-US" sz="900">
                <a:solidFill>
                  <a:srgbClr val="FFFFFF"/>
                </a:solidFill>
                <a:latin typeface="Kings Caslon Display" pitchFamily="2" charset="0"/>
                <a:ea typeface="ヒラギノ角ゴ ProN W3" panose="020B0300000000000000" pitchFamily="34" charset="-128"/>
                <a:sym typeface="Kings Caslon Display" pitchFamily="2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900">
              <a:solidFill>
                <a:srgbClr val="FFFFFF"/>
              </a:solidFill>
              <a:latin typeface="Kings Caslon Display" pitchFamily="2" charset="0"/>
              <a:ea typeface="ヒラギノ角ゴ ProN W3" panose="020B0300000000000000" pitchFamily="34" charset="-128"/>
              <a:sym typeface="Kings Caslon Display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F4556E-A286-3043-8EA3-F9E7EC149242}"/>
              </a:ext>
            </a:extLst>
          </p:cNvPr>
          <p:cNvSpPr/>
          <p:nvPr/>
        </p:nvSpPr>
        <p:spPr>
          <a:xfrm>
            <a:off x="0" y="14288"/>
            <a:ext cx="9144000" cy="750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620"/>
          </a:p>
        </p:txBody>
      </p:sp>
      <p:sp>
        <p:nvSpPr>
          <p:cNvPr id="71685" name="Title 1">
            <a:extLst>
              <a:ext uri="{FF2B5EF4-FFF2-40B4-BE49-F238E27FC236}">
                <a16:creationId xmlns:a16="http://schemas.microsoft.com/office/drawing/2014/main" id="{30435948-6DA3-8F4B-B636-BE8B1AE6E700}"/>
              </a:ext>
            </a:extLst>
          </p:cNvPr>
          <p:cNvSpPr txBox="1">
            <a:spLocks/>
          </p:cNvSpPr>
          <p:nvPr/>
        </p:nvSpPr>
        <p:spPr bwMode="auto">
          <a:xfrm>
            <a:off x="378620" y="14288"/>
            <a:ext cx="7505223" cy="808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1014413">
              <a:lnSpc>
                <a:spcPct val="90000"/>
              </a:lnSpc>
              <a:spcBef>
                <a:spcPts val="1113"/>
              </a:spcBef>
              <a:buFont typeface="Arial" panose="020B0604020202020204" pitchFamily="34" charset="0"/>
              <a:buChar char="•"/>
              <a:defRPr sz="3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80">
                <a:latin typeface="Calibri Light" panose="020F0302020204030204" pitchFamily="34" charset="0"/>
                <a:cs typeface="ヒラギノ角ゴ ProN W3" panose="020B0300000000000000" pitchFamily="34" charset="-128"/>
              </a:rPr>
              <a:t>Agents as Intentional Systems</a:t>
            </a:r>
            <a:endParaRPr lang="en-GB" altLang="en-US" sz="2880" b="1">
              <a:latin typeface="Calibri Light" panose="020F0302020204030204" pitchFamily="34" charset="0"/>
              <a:cs typeface="ヒラギノ角ゴ ProN W3" panose="020B0300000000000000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7F15A5-6A70-A242-BBB2-47D3223270D8}"/>
              </a:ext>
            </a:extLst>
          </p:cNvPr>
          <p:cNvSpPr txBox="1"/>
          <p:nvPr/>
        </p:nvSpPr>
        <p:spPr>
          <a:xfrm>
            <a:off x="1389067" y="4804404"/>
            <a:ext cx="7602851" cy="3139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sz="1440" dirty="0">
                <a:ea typeface="ヒラギノ明朝 ProN W3" charset="-128"/>
                <a:sym typeface="Times New Roman" charset="0"/>
              </a:rPr>
              <a:t>Y. </a:t>
            </a:r>
            <a:r>
              <a:rPr lang="en-GB" sz="1440" dirty="0" err="1">
                <a:ea typeface="ヒラギノ明朝 ProN W3" charset="-128"/>
                <a:sym typeface="Times New Roman" charset="0"/>
              </a:rPr>
              <a:t>Shoham</a:t>
            </a:r>
            <a:r>
              <a:rPr lang="en-GB" sz="1440" dirty="0">
                <a:ea typeface="ヒラギノ明朝 ProN W3" charset="-128"/>
                <a:sym typeface="Times New Roman" charset="0"/>
              </a:rPr>
              <a:t>. </a:t>
            </a:r>
            <a:r>
              <a:rPr lang="en-GB" sz="1440" i="1" dirty="0">
                <a:ea typeface="ヒラギノ明朝 ProN W3" charset="-128"/>
                <a:sym typeface="Times New Roman" charset="0"/>
              </a:rPr>
              <a:t>Agent oriented programming</a:t>
            </a:r>
            <a:r>
              <a:rPr lang="en-GB" sz="1440" dirty="0">
                <a:ea typeface="ヒラギノ明朝 ProN W3" charset="-128"/>
                <a:sym typeface="Times New Roman" charset="0"/>
              </a:rPr>
              <a:t>. Technical report, Stanford Computer Science Dept., 1990.</a:t>
            </a:r>
          </a:p>
        </p:txBody>
      </p:sp>
    </p:spTree>
    <p:extLst>
      <p:ext uri="{BB962C8B-B14F-4D97-AF65-F5344CB8AC3E}">
        <p14:creationId xmlns:p14="http://schemas.microsoft.com/office/powerpoint/2010/main" val="982474682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FCA01718-FB7A-B54A-BF05-F7D7A38E97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095852"/>
            <a:ext cx="7886700" cy="5319236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1980" noProof="0" dirty="0"/>
              <a:t>The answer seems to be that while the intentional stance description is consistent,</a:t>
            </a:r>
          </a:p>
          <a:p>
            <a:pPr lvl="1" eaLnBrk="1" hangingPunct="1"/>
            <a:r>
              <a:rPr lang="en-GB" altLang="en-US" sz="1800" noProof="0" dirty="0"/>
              <a:t>. . . it </a:t>
            </a:r>
            <a:r>
              <a:rPr lang="en-GB" altLang="en-US" sz="1800" b="1" i="1" noProof="0" dirty="0"/>
              <a:t>does not </a:t>
            </a:r>
            <a:r>
              <a:rPr lang="en-GB" altLang="en-US" sz="1800" b="1" i="1" noProof="0" dirty="0">
                <a:latin typeface="KingsBureauGrot FiveOne Italic" charset="0"/>
                <a:sym typeface="KingsBureauGrot FiveOne Italic" charset="0"/>
              </a:rPr>
              <a:t>buy us anything</a:t>
            </a:r>
            <a:r>
              <a:rPr lang="en-GB" altLang="en-US" sz="1800" noProof="0" dirty="0"/>
              <a:t>, since we essentially understand the mechanism sufficiently to have a simpler, mechanistic description of its </a:t>
            </a:r>
            <a:r>
              <a:rPr lang="en-GB" altLang="en-US" sz="1800" noProof="0" dirty="0" err="1"/>
              <a:t>behavior</a:t>
            </a:r>
            <a:r>
              <a:rPr lang="en-GB" altLang="en-US" sz="1800" noProof="0" dirty="0"/>
              <a:t>. 	  [</a:t>
            </a:r>
            <a:r>
              <a:rPr lang="en-GB" altLang="en-US" sz="1800" noProof="0" dirty="0" err="1"/>
              <a:t>Shoham</a:t>
            </a:r>
            <a:r>
              <a:rPr lang="en-GB" altLang="en-US" sz="1800" noProof="0" dirty="0"/>
              <a:t>, 1990]</a:t>
            </a:r>
          </a:p>
          <a:p>
            <a:pPr lvl="1" eaLnBrk="1" hangingPunct="1"/>
            <a:endParaRPr lang="en-GB" altLang="en-US" sz="1800" noProof="0" dirty="0"/>
          </a:p>
          <a:p>
            <a:pPr marL="0" indent="0">
              <a:buNone/>
            </a:pPr>
            <a:r>
              <a:rPr lang="en-GB" altLang="en-US" sz="1980" noProof="0" dirty="0"/>
              <a:t>Put crudely, the more we know about a system, the less we need to rely on animistic, intentional explanations of its behaviour</a:t>
            </a:r>
          </a:p>
          <a:p>
            <a:pPr marL="0" indent="0">
              <a:buNone/>
            </a:pPr>
            <a:r>
              <a:rPr lang="en-GB" altLang="en-US" sz="1980" noProof="0" dirty="0"/>
              <a:t>But with very complex systems, a mechanistic explanation of its behaviour may not be practicable</a:t>
            </a:r>
          </a:p>
          <a:p>
            <a:pPr marL="0" indent="0">
              <a:buNone/>
            </a:pPr>
            <a:endParaRPr lang="en-GB" altLang="en-US" sz="1980" b="1" i="1" noProof="0" dirty="0">
              <a:latin typeface="KingsBureauGrot FiveOne Italic" charset="0"/>
              <a:sym typeface="KingsBureauGrot FiveOne Italic" charset="0"/>
            </a:endParaRPr>
          </a:p>
          <a:p>
            <a:pPr marL="0" indent="0">
              <a:buNone/>
            </a:pPr>
            <a:r>
              <a:rPr lang="en-GB" altLang="en-US" sz="1980" b="1" i="1" noProof="0" dirty="0">
                <a:latin typeface="KingsBureauGrot FiveOne Italic" charset="0"/>
                <a:sym typeface="KingsBureauGrot FiveOne Italic" charset="0"/>
              </a:rPr>
              <a:t>As computer systems become ever more complex, we need more powerful abstractions and metaphors to explain their operation — low level explanations become impractical. The intentional stance is such an abstraction</a:t>
            </a:r>
          </a:p>
          <a:p>
            <a:pPr marL="0" indent="0">
              <a:buNone/>
            </a:pPr>
            <a:endParaRPr lang="en-GB" altLang="en-US" sz="2520" noProof="0" dirty="0"/>
          </a:p>
        </p:txBody>
      </p:sp>
      <p:sp>
        <p:nvSpPr>
          <p:cNvPr id="73731" name="Slide Number Placeholder 3">
            <a:extLst>
              <a:ext uri="{FF2B5EF4-FFF2-40B4-BE49-F238E27FC236}">
                <a16:creationId xmlns:a16="http://schemas.microsoft.com/office/drawing/2014/main" id="{DE1C0912-9B6A-C447-9B82-13CAA3D3A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2"/>
              </a:spcBef>
              <a:buFont typeface="Arial" panose="020B0604020202020204" pitchFamily="34" charset="0"/>
              <a:buChar char="•"/>
              <a:defRPr sz="279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4138553" indent="-33727073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234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60120" indent="-19431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198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37310" indent="-19431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714500" indent="-19431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12598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53746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4894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6042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81F3C89-DA1E-B24F-A136-B1EC7C88C394}" type="slidenum">
              <a:rPr lang="en-US" altLang="en-US" sz="900">
                <a:solidFill>
                  <a:srgbClr val="FFFFFF"/>
                </a:solidFill>
                <a:latin typeface="Kings Caslon Display" pitchFamily="2" charset="0"/>
                <a:ea typeface="ヒラギノ角ゴ ProN W3" panose="020B0300000000000000" pitchFamily="34" charset="-128"/>
                <a:sym typeface="Kings Caslon Display" pitchFamily="2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900">
              <a:solidFill>
                <a:srgbClr val="FFFFFF"/>
              </a:solidFill>
              <a:latin typeface="Kings Caslon Display" pitchFamily="2" charset="0"/>
              <a:ea typeface="ヒラギノ角ゴ ProN W3" panose="020B0300000000000000" pitchFamily="34" charset="-128"/>
              <a:sym typeface="Kings Caslon Display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F7700A-D27E-2A41-BD44-981DDA7D9B74}"/>
              </a:ext>
            </a:extLst>
          </p:cNvPr>
          <p:cNvSpPr/>
          <p:nvPr/>
        </p:nvSpPr>
        <p:spPr>
          <a:xfrm>
            <a:off x="0" y="14288"/>
            <a:ext cx="9144000" cy="750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620"/>
          </a:p>
        </p:txBody>
      </p:sp>
      <p:sp>
        <p:nvSpPr>
          <p:cNvPr id="73733" name="Title 1">
            <a:extLst>
              <a:ext uri="{FF2B5EF4-FFF2-40B4-BE49-F238E27FC236}">
                <a16:creationId xmlns:a16="http://schemas.microsoft.com/office/drawing/2014/main" id="{2ACB43DE-A451-904E-9F1C-8EA91A068042}"/>
              </a:ext>
            </a:extLst>
          </p:cNvPr>
          <p:cNvSpPr txBox="1">
            <a:spLocks/>
          </p:cNvSpPr>
          <p:nvPr/>
        </p:nvSpPr>
        <p:spPr bwMode="auto">
          <a:xfrm>
            <a:off x="378620" y="14288"/>
            <a:ext cx="7505223" cy="808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1014413">
              <a:lnSpc>
                <a:spcPct val="90000"/>
              </a:lnSpc>
              <a:spcBef>
                <a:spcPts val="1113"/>
              </a:spcBef>
              <a:buFont typeface="Arial" panose="020B0604020202020204" pitchFamily="34" charset="0"/>
              <a:buChar char="•"/>
              <a:defRPr sz="3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80">
                <a:latin typeface="Calibri Light" panose="020F0302020204030204" pitchFamily="34" charset="0"/>
                <a:cs typeface="ヒラギノ角ゴ ProN W3" panose="020B0300000000000000" pitchFamily="34" charset="-128"/>
              </a:rPr>
              <a:t>Agents as Intentional Systems</a:t>
            </a:r>
            <a:endParaRPr lang="en-GB" altLang="en-US" sz="2880" b="1">
              <a:latin typeface="Calibri Light" panose="020F0302020204030204" pitchFamily="34" charset="0"/>
              <a:cs typeface="ヒラギノ角ゴ ProN W3" panose="020B0300000000000000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B404AD-7FAD-2B4F-91F4-A52E7F070772}"/>
              </a:ext>
            </a:extLst>
          </p:cNvPr>
          <p:cNvSpPr txBox="1"/>
          <p:nvPr/>
        </p:nvSpPr>
        <p:spPr>
          <a:xfrm>
            <a:off x="628650" y="5719287"/>
            <a:ext cx="7602851" cy="3139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sz="1440" dirty="0">
                <a:ea typeface="ヒラギノ明朝 ProN W3" charset="-128"/>
                <a:sym typeface="Times New Roman" charset="0"/>
              </a:rPr>
              <a:t>Y. </a:t>
            </a:r>
            <a:r>
              <a:rPr lang="en-GB" sz="1440" dirty="0" err="1">
                <a:ea typeface="ヒラギノ明朝 ProN W3" charset="-128"/>
                <a:sym typeface="Times New Roman" charset="0"/>
              </a:rPr>
              <a:t>Shoham</a:t>
            </a:r>
            <a:r>
              <a:rPr lang="en-GB" sz="1440" dirty="0">
                <a:ea typeface="ヒラギノ明朝 ProN W3" charset="-128"/>
                <a:sym typeface="Times New Roman" charset="0"/>
              </a:rPr>
              <a:t>. </a:t>
            </a:r>
            <a:r>
              <a:rPr lang="en-GB" sz="1440" i="1" dirty="0">
                <a:ea typeface="ヒラギノ明朝 ProN W3" charset="-128"/>
                <a:sym typeface="Times New Roman" charset="0"/>
              </a:rPr>
              <a:t>Agent oriented programming</a:t>
            </a:r>
            <a:r>
              <a:rPr lang="en-GB" sz="1440" dirty="0">
                <a:ea typeface="ヒラギノ明朝 ProN W3" charset="-128"/>
                <a:sym typeface="Times New Roman" charset="0"/>
              </a:rPr>
              <a:t>. Technical report, Stanford Computer Science Dept., 1990.</a:t>
            </a:r>
          </a:p>
        </p:txBody>
      </p:sp>
    </p:spTree>
    <p:extLst>
      <p:ext uri="{BB962C8B-B14F-4D97-AF65-F5344CB8AC3E}">
        <p14:creationId xmlns:p14="http://schemas.microsoft.com/office/powerpoint/2010/main" val="1642287261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274EF8E4-0730-F04D-A569-7CF78090F0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095852"/>
            <a:ext cx="7886700" cy="5319236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160" noProof="0" dirty="0"/>
              <a:t>Dennett identifies different ‘grades’ of intentional system:</a:t>
            </a:r>
          </a:p>
          <a:p>
            <a:pPr marL="0" indent="0">
              <a:buNone/>
            </a:pPr>
            <a:br>
              <a:rPr lang="en-GB" altLang="en-US" sz="2160" noProof="0" dirty="0"/>
            </a:br>
            <a:r>
              <a:rPr lang="en-GB" altLang="en-US" sz="2160" noProof="0" dirty="0"/>
              <a:t>‘A </a:t>
            </a:r>
            <a:r>
              <a:rPr lang="en-GB" altLang="en-US" sz="2160" b="1" i="1" noProof="0" dirty="0">
                <a:latin typeface="KingsBureauGrot FiveOne Italic" charset="0"/>
                <a:sym typeface="KingsBureauGrot FiveOne Italic" charset="0"/>
              </a:rPr>
              <a:t>first-order</a:t>
            </a:r>
            <a:r>
              <a:rPr lang="en-GB" altLang="en-US" sz="2160" noProof="0" dirty="0"/>
              <a:t> intentional system has beliefs and desires (etc.) but no beliefs and desires </a:t>
            </a:r>
            <a:r>
              <a:rPr lang="en-GB" altLang="en-US" sz="2160" b="1" i="1" noProof="0" dirty="0">
                <a:latin typeface="KingsBureauGrot FiveOne Italic" charset="0"/>
                <a:sym typeface="KingsBureauGrot FiveOne Italic" charset="0"/>
              </a:rPr>
              <a:t>about</a:t>
            </a:r>
            <a:r>
              <a:rPr lang="en-GB" altLang="en-US" sz="2160" noProof="0" dirty="0"/>
              <a:t> beliefs and desires. …A </a:t>
            </a:r>
            <a:r>
              <a:rPr lang="en-GB" altLang="en-US" sz="2160" b="1" i="1" noProof="0" dirty="0">
                <a:latin typeface="KingsBureauGrot FiveOne Italic" charset="0"/>
                <a:sym typeface="KingsBureauGrot FiveOne Italic" charset="0"/>
              </a:rPr>
              <a:t>second-order</a:t>
            </a:r>
            <a:r>
              <a:rPr lang="en-GB" altLang="en-US" sz="2160" noProof="0" dirty="0"/>
              <a:t> intentional system is more sophisticated; it has beliefs and desires (and no doubt other intentional states) about beliefs and desires (and other intentional states) — both those of others and its own’</a:t>
            </a:r>
          </a:p>
          <a:p>
            <a:pPr marL="0" indent="0">
              <a:buNone/>
            </a:pPr>
            <a:endParaRPr lang="en-GB" altLang="en-US" sz="2520" noProof="0" dirty="0"/>
          </a:p>
        </p:txBody>
      </p:sp>
      <p:sp>
        <p:nvSpPr>
          <p:cNvPr id="75779" name="Slide Number Placeholder 3">
            <a:extLst>
              <a:ext uri="{FF2B5EF4-FFF2-40B4-BE49-F238E27FC236}">
                <a16:creationId xmlns:a16="http://schemas.microsoft.com/office/drawing/2014/main" id="{17F052CF-C563-204D-B67C-E7D1B9E00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2"/>
              </a:spcBef>
              <a:buFont typeface="Arial" panose="020B0604020202020204" pitchFamily="34" charset="0"/>
              <a:buChar char="•"/>
              <a:defRPr sz="279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4138553" indent="-33727073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234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60120" indent="-19431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198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37310" indent="-19431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714500" indent="-19431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12598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53746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4894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6042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4463944-C71A-5444-8C06-211B3F7083C8}" type="slidenum">
              <a:rPr lang="en-US" altLang="en-US" sz="900">
                <a:solidFill>
                  <a:srgbClr val="FFFFFF"/>
                </a:solidFill>
                <a:latin typeface="Kings Caslon Display" pitchFamily="2" charset="0"/>
                <a:ea typeface="ヒラギノ角ゴ ProN W3" panose="020B0300000000000000" pitchFamily="34" charset="-128"/>
                <a:sym typeface="Kings Caslon Display" pitchFamily="2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900">
              <a:solidFill>
                <a:srgbClr val="FFFFFF"/>
              </a:solidFill>
              <a:latin typeface="Kings Caslon Display" pitchFamily="2" charset="0"/>
              <a:ea typeface="ヒラギノ角ゴ ProN W3" panose="020B0300000000000000" pitchFamily="34" charset="-128"/>
              <a:sym typeface="Kings Caslon Display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338FD4-CBEA-F04E-81D0-AC0E4CFCE8F6}"/>
              </a:ext>
            </a:extLst>
          </p:cNvPr>
          <p:cNvSpPr/>
          <p:nvPr/>
        </p:nvSpPr>
        <p:spPr>
          <a:xfrm>
            <a:off x="0" y="14288"/>
            <a:ext cx="9144000" cy="750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620"/>
          </a:p>
        </p:txBody>
      </p:sp>
      <p:sp>
        <p:nvSpPr>
          <p:cNvPr id="75781" name="Title 1">
            <a:extLst>
              <a:ext uri="{FF2B5EF4-FFF2-40B4-BE49-F238E27FC236}">
                <a16:creationId xmlns:a16="http://schemas.microsoft.com/office/drawing/2014/main" id="{C000DDF7-F4ED-4F4E-A39B-B088758FC226}"/>
              </a:ext>
            </a:extLst>
          </p:cNvPr>
          <p:cNvSpPr txBox="1">
            <a:spLocks/>
          </p:cNvSpPr>
          <p:nvPr/>
        </p:nvSpPr>
        <p:spPr bwMode="auto">
          <a:xfrm>
            <a:off x="378620" y="14288"/>
            <a:ext cx="7505223" cy="808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1014413">
              <a:lnSpc>
                <a:spcPct val="90000"/>
              </a:lnSpc>
              <a:spcBef>
                <a:spcPts val="1113"/>
              </a:spcBef>
              <a:buFont typeface="Arial" panose="020B0604020202020204" pitchFamily="34" charset="0"/>
              <a:buChar char="•"/>
              <a:defRPr sz="3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80">
                <a:latin typeface="Calibri Light" panose="020F0302020204030204" pitchFamily="34" charset="0"/>
                <a:cs typeface="ヒラギノ角ゴ ProN W3" panose="020B0300000000000000" pitchFamily="34" charset="-128"/>
              </a:rPr>
              <a:t>Agents as Intentional Systems</a:t>
            </a:r>
            <a:endParaRPr lang="en-GB" altLang="en-US" sz="2880" b="1">
              <a:latin typeface="Calibri Light" panose="020F0302020204030204" pitchFamily="34" charset="0"/>
              <a:cs typeface="ヒラギノ角ゴ ProN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6995873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E9CF8D74-A4B0-154A-AEF2-2013143D9D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095852"/>
            <a:ext cx="7886700" cy="5319236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160" noProof="0" dirty="0"/>
              <a:t>This intentional stance is an </a:t>
            </a:r>
            <a:r>
              <a:rPr lang="en-GB" altLang="en-US" sz="2160" b="1" i="1" noProof="0" dirty="0">
                <a:latin typeface="KingsBureauGrot FiveOne Italic" charset="0"/>
                <a:sym typeface="KingsBureauGrot FiveOne Italic" charset="0"/>
              </a:rPr>
              <a:t>abstraction tool</a:t>
            </a:r>
            <a:r>
              <a:rPr lang="en-GB" altLang="en-US" sz="2160" noProof="0" dirty="0"/>
              <a:t> — a convenient way of talking about complex systems, which allows us to predict and explain their behaviour without having to understand how the mechanism actually works</a:t>
            </a:r>
          </a:p>
          <a:p>
            <a:pPr marL="0" indent="0">
              <a:buNone/>
            </a:pPr>
            <a:endParaRPr lang="en-GB" altLang="en-US" sz="2160" noProof="0" dirty="0"/>
          </a:p>
          <a:p>
            <a:pPr marL="0" indent="0">
              <a:buNone/>
            </a:pPr>
            <a:r>
              <a:rPr lang="en-GB" altLang="en-US" sz="2160" noProof="0" dirty="0"/>
              <a:t>Now, much of computer science is concerned with looking for abstraction mechanisms (witness procedural abstraction, ADTs, objects,…)</a:t>
            </a:r>
            <a:br>
              <a:rPr lang="en-GB" altLang="en-US" sz="2160" noProof="0" dirty="0"/>
            </a:br>
            <a:r>
              <a:rPr lang="en-GB" altLang="en-US" sz="2160" noProof="0" dirty="0"/>
              <a:t>   	</a:t>
            </a:r>
            <a:r>
              <a:rPr lang="en-GB" altLang="en-US" sz="2160" b="1" i="1" noProof="0" dirty="0">
                <a:latin typeface="KingsBureauGrot FiveOne Italic" charset="0"/>
                <a:sym typeface="KingsBureauGrot FiveOne Italic" charset="0"/>
              </a:rPr>
              <a:t>So why not use the intentional stance as an abstraction tool in computing — to explain, understand, and, crucially, program computer systems?</a:t>
            </a:r>
          </a:p>
          <a:p>
            <a:pPr marL="0" indent="0">
              <a:buNone/>
            </a:pPr>
            <a:endParaRPr lang="en-GB" altLang="en-US" sz="2160" b="1" i="1" dirty="0">
              <a:latin typeface="KingsBureauGrot FiveOne Italic" charset="0"/>
              <a:sym typeface="KingsBureauGrot FiveOne Italic" charset="0"/>
            </a:endParaRPr>
          </a:p>
          <a:p>
            <a:pPr marL="0" indent="0">
              <a:buNone/>
            </a:pPr>
            <a:r>
              <a:rPr lang="en-GB" altLang="en-US" sz="2160" dirty="0"/>
              <a:t>Characterising agents as intentional systems provides us with a familiar, non-technical way of understanding &amp; explaining agents.</a:t>
            </a:r>
          </a:p>
          <a:p>
            <a:pPr marL="0" indent="0">
              <a:buNone/>
            </a:pPr>
            <a:endParaRPr lang="en-GB" altLang="en-US" sz="2160" b="1" i="1" dirty="0"/>
          </a:p>
          <a:p>
            <a:pPr marL="0" indent="0">
              <a:buNone/>
            </a:pPr>
            <a:endParaRPr lang="en-GB" altLang="en-US" sz="2160" b="1" i="1" noProof="0" dirty="0"/>
          </a:p>
          <a:p>
            <a:pPr marL="0" indent="0">
              <a:buNone/>
            </a:pPr>
            <a:endParaRPr lang="en-GB" altLang="en-US" sz="2160" noProof="0" dirty="0"/>
          </a:p>
        </p:txBody>
      </p:sp>
      <p:sp>
        <p:nvSpPr>
          <p:cNvPr id="78851" name="Slide Number Placeholder 3">
            <a:extLst>
              <a:ext uri="{FF2B5EF4-FFF2-40B4-BE49-F238E27FC236}">
                <a16:creationId xmlns:a16="http://schemas.microsoft.com/office/drawing/2014/main" id="{811072E3-BD6A-4F49-80F4-2AACA4039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2"/>
              </a:spcBef>
              <a:buFont typeface="Arial" panose="020B0604020202020204" pitchFamily="34" charset="0"/>
              <a:buChar char="•"/>
              <a:defRPr sz="279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4138553" indent="-33727073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234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60120" indent="-19431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198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37310" indent="-19431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714500" indent="-19431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12598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53746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4894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60420" indent="-194310" eaLnBrk="0" fontAlgn="base" hangingPunct="0">
              <a:lnSpc>
                <a:spcPct val="90000"/>
              </a:lnSpc>
              <a:spcBef>
                <a:spcPts val="49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0592938-3801-F640-8EDB-16C00DCC6D80}" type="slidenum">
              <a:rPr lang="en-US" altLang="en-US" sz="900">
                <a:solidFill>
                  <a:srgbClr val="FFFFFF"/>
                </a:solidFill>
                <a:latin typeface="Kings Caslon Display" pitchFamily="2" charset="0"/>
                <a:ea typeface="ヒラギノ角ゴ ProN W3" panose="020B0300000000000000" pitchFamily="34" charset="-128"/>
                <a:sym typeface="Kings Caslon Display" pitchFamily="2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900">
              <a:solidFill>
                <a:srgbClr val="FFFFFF"/>
              </a:solidFill>
              <a:latin typeface="Kings Caslon Display" pitchFamily="2" charset="0"/>
              <a:ea typeface="ヒラギノ角ゴ ProN W3" panose="020B0300000000000000" pitchFamily="34" charset="-128"/>
              <a:sym typeface="Kings Caslon Display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8DC73D-24F9-1544-B7FF-F1A8B6ED686A}"/>
              </a:ext>
            </a:extLst>
          </p:cNvPr>
          <p:cNvSpPr/>
          <p:nvPr/>
        </p:nvSpPr>
        <p:spPr>
          <a:xfrm>
            <a:off x="0" y="14288"/>
            <a:ext cx="9144000" cy="750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620"/>
          </a:p>
        </p:txBody>
      </p:sp>
      <p:sp>
        <p:nvSpPr>
          <p:cNvPr id="78853" name="Title 1">
            <a:extLst>
              <a:ext uri="{FF2B5EF4-FFF2-40B4-BE49-F238E27FC236}">
                <a16:creationId xmlns:a16="http://schemas.microsoft.com/office/drawing/2014/main" id="{9E3F9AF9-CB8F-A94C-A0D9-742BE1F4E5B6}"/>
              </a:ext>
            </a:extLst>
          </p:cNvPr>
          <p:cNvSpPr txBox="1">
            <a:spLocks/>
          </p:cNvSpPr>
          <p:nvPr/>
        </p:nvSpPr>
        <p:spPr bwMode="auto">
          <a:xfrm>
            <a:off x="378620" y="14288"/>
            <a:ext cx="7505223" cy="808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1014413">
              <a:lnSpc>
                <a:spcPct val="90000"/>
              </a:lnSpc>
              <a:spcBef>
                <a:spcPts val="1113"/>
              </a:spcBef>
              <a:buFont typeface="Arial" panose="020B0604020202020204" pitchFamily="34" charset="0"/>
              <a:buChar char="•"/>
              <a:defRPr sz="3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80">
                <a:latin typeface="Calibri Light" panose="020F0302020204030204" pitchFamily="34" charset="0"/>
                <a:cs typeface="ヒラギノ角ゴ ProN W3" panose="020B0300000000000000" pitchFamily="34" charset="-128"/>
              </a:rPr>
              <a:t>Agents as Intentional Systems</a:t>
            </a:r>
            <a:endParaRPr lang="en-GB" altLang="en-US" sz="2880" b="1">
              <a:latin typeface="Calibri Light" panose="020F0302020204030204" pitchFamily="34" charset="0"/>
              <a:cs typeface="ヒラギノ角ゴ ProN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84532789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</TotalTime>
  <Words>777</Words>
  <Application>Microsoft Macintosh PowerPoint</Application>
  <PresentationFormat>On-screen Show (4:3)</PresentationFormat>
  <Paragraphs>58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Kings Caslon Display</vt:lpstr>
      <vt:lpstr>KingsBureauGrot FiveOne</vt:lpstr>
      <vt:lpstr>KingsBureauGrot FiveOne Italic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an agent?</dc:title>
  <dc:creator>Black, Elizabeth</dc:creator>
  <cp:lastModifiedBy>Black, Elizabeth</cp:lastModifiedBy>
  <cp:revision>5</cp:revision>
  <dcterms:created xsi:type="dcterms:W3CDTF">2020-08-27T12:20:12Z</dcterms:created>
  <dcterms:modified xsi:type="dcterms:W3CDTF">2020-08-28T13:50:23Z</dcterms:modified>
</cp:coreProperties>
</file>